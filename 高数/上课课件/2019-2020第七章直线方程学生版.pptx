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336" r:id="rId2"/>
    <p:sldId id="257" r:id="rId3"/>
    <p:sldId id="258" r:id="rId4"/>
    <p:sldId id="276" r:id="rId5"/>
    <p:sldId id="259" r:id="rId6"/>
    <p:sldId id="277" r:id="rId7"/>
    <p:sldId id="260" r:id="rId8"/>
    <p:sldId id="261" r:id="rId9"/>
    <p:sldId id="262" r:id="rId10"/>
    <p:sldId id="278" r:id="rId11"/>
    <p:sldId id="280" r:id="rId12"/>
    <p:sldId id="263" r:id="rId13"/>
    <p:sldId id="264" r:id="rId14"/>
    <p:sldId id="279" r:id="rId15"/>
    <p:sldId id="265" r:id="rId16"/>
    <p:sldId id="266" r:id="rId17"/>
    <p:sldId id="267" r:id="rId18"/>
    <p:sldId id="281" r:id="rId19"/>
    <p:sldId id="337" r:id="rId20"/>
    <p:sldId id="338" r:id="rId21"/>
    <p:sldId id="282" r:id="rId22"/>
    <p:sldId id="285" r:id="rId23"/>
    <p:sldId id="268" r:id="rId24"/>
    <p:sldId id="283" r:id="rId25"/>
    <p:sldId id="269" r:id="rId26"/>
    <p:sldId id="270" r:id="rId27"/>
    <p:sldId id="284" r:id="rId28"/>
    <p:sldId id="339" r:id="rId29"/>
    <p:sldId id="271" r:id="rId30"/>
    <p:sldId id="272" r:id="rId31"/>
    <p:sldId id="27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12" Type="http://schemas.openxmlformats.org/officeDocument/2006/relationships/image" Target="../media/image76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image" Target="../media/image102.wmf"/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12" Type="http://schemas.openxmlformats.org/officeDocument/2006/relationships/image" Target="../media/image101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11" Type="http://schemas.openxmlformats.org/officeDocument/2006/relationships/image" Target="../media/image100.wmf"/><Relationship Id="rId5" Type="http://schemas.openxmlformats.org/officeDocument/2006/relationships/image" Target="../media/image94.wmf"/><Relationship Id="rId10" Type="http://schemas.openxmlformats.org/officeDocument/2006/relationships/image" Target="../media/image99.wmf"/><Relationship Id="rId4" Type="http://schemas.openxmlformats.org/officeDocument/2006/relationships/image" Target="../media/image93.wmf"/><Relationship Id="rId9" Type="http://schemas.openxmlformats.org/officeDocument/2006/relationships/image" Target="../media/image9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10" Type="http://schemas.openxmlformats.org/officeDocument/2006/relationships/image" Target="../media/image112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4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Relationship Id="rId9" Type="http://schemas.openxmlformats.org/officeDocument/2006/relationships/image" Target="../media/image13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9" Type="http://schemas.openxmlformats.org/officeDocument/2006/relationships/image" Target="../media/image159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wmf"/><Relationship Id="rId1" Type="http://schemas.openxmlformats.org/officeDocument/2006/relationships/image" Target="../media/image16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image" Target="../media/image173.wmf"/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12" Type="http://schemas.openxmlformats.org/officeDocument/2006/relationships/image" Target="../media/image172.wmf"/><Relationship Id="rId2" Type="http://schemas.openxmlformats.org/officeDocument/2006/relationships/image" Target="../media/image162.wmf"/><Relationship Id="rId16" Type="http://schemas.openxmlformats.org/officeDocument/2006/relationships/image" Target="../media/image176.wmf"/><Relationship Id="rId1" Type="http://schemas.openxmlformats.org/officeDocument/2006/relationships/image" Target="../media/image161.wmf"/><Relationship Id="rId6" Type="http://schemas.openxmlformats.org/officeDocument/2006/relationships/image" Target="../media/image166.wmf"/><Relationship Id="rId11" Type="http://schemas.openxmlformats.org/officeDocument/2006/relationships/image" Target="../media/image171.wmf"/><Relationship Id="rId5" Type="http://schemas.openxmlformats.org/officeDocument/2006/relationships/image" Target="../media/image165.wmf"/><Relationship Id="rId15" Type="http://schemas.openxmlformats.org/officeDocument/2006/relationships/image" Target="../media/image175.wmf"/><Relationship Id="rId10" Type="http://schemas.openxmlformats.org/officeDocument/2006/relationships/image" Target="../media/image170.wmf"/><Relationship Id="rId4" Type="http://schemas.openxmlformats.org/officeDocument/2006/relationships/image" Target="../media/image164.wmf"/><Relationship Id="rId9" Type="http://schemas.openxmlformats.org/officeDocument/2006/relationships/image" Target="../media/image169.wmf"/><Relationship Id="rId14" Type="http://schemas.openxmlformats.org/officeDocument/2006/relationships/image" Target="../media/image17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81.wmf"/><Relationship Id="rId5" Type="http://schemas.openxmlformats.org/officeDocument/2006/relationships/image" Target="../media/image163.wmf"/><Relationship Id="rId4" Type="http://schemas.openxmlformats.org/officeDocument/2006/relationships/image" Target="../media/image18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wmf"/><Relationship Id="rId1" Type="http://schemas.openxmlformats.org/officeDocument/2006/relationships/image" Target="../media/image19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4" Type="http://schemas.openxmlformats.org/officeDocument/2006/relationships/image" Target="../media/image19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6" Type="http://schemas.openxmlformats.org/officeDocument/2006/relationships/image" Target="../media/image201.wmf"/><Relationship Id="rId11" Type="http://schemas.openxmlformats.org/officeDocument/2006/relationships/image" Target="../media/image206.wmf"/><Relationship Id="rId5" Type="http://schemas.openxmlformats.org/officeDocument/2006/relationships/image" Target="../media/image200.wmf"/><Relationship Id="rId10" Type="http://schemas.openxmlformats.org/officeDocument/2006/relationships/image" Target="../media/image205.wmf"/><Relationship Id="rId4" Type="http://schemas.openxmlformats.org/officeDocument/2006/relationships/image" Target="../media/image199.wmf"/><Relationship Id="rId9" Type="http://schemas.openxmlformats.org/officeDocument/2006/relationships/image" Target="../media/image204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image" Target="../media/image219.wmf"/><Relationship Id="rId3" Type="http://schemas.openxmlformats.org/officeDocument/2006/relationships/image" Target="../media/image209.wmf"/><Relationship Id="rId7" Type="http://schemas.openxmlformats.org/officeDocument/2006/relationships/image" Target="../media/image213.wmf"/><Relationship Id="rId12" Type="http://schemas.openxmlformats.org/officeDocument/2006/relationships/image" Target="../media/image218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11" Type="http://schemas.openxmlformats.org/officeDocument/2006/relationships/image" Target="../media/image217.wmf"/><Relationship Id="rId5" Type="http://schemas.openxmlformats.org/officeDocument/2006/relationships/image" Target="../media/image211.wmf"/><Relationship Id="rId10" Type="http://schemas.openxmlformats.org/officeDocument/2006/relationships/image" Target="../media/image216.wmf"/><Relationship Id="rId4" Type="http://schemas.openxmlformats.org/officeDocument/2006/relationships/image" Target="../media/image210.wmf"/><Relationship Id="rId9" Type="http://schemas.openxmlformats.org/officeDocument/2006/relationships/image" Target="../media/image2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A2D0D-C585-4F15-B52C-97811D10519A}" type="datetimeFigureOut">
              <a:rPr lang="zh-CN" altLang="en-US" smtClean="0"/>
              <a:t>2020/3/15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86B43-63DF-4EB2-9DA5-17718EB00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75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D41CE9-EBB9-4A47-983C-DF369043ECBF}" type="slidenum">
              <a:rPr lang="zh-CN" altLang="zh-CN" smtClean="0"/>
              <a:pPr/>
              <a:t>5</a:t>
            </a:fld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076">
            <a:extLst>
              <a:ext uri="{FF2B5EF4-FFF2-40B4-BE49-F238E27FC236}">
                <a16:creationId xmlns:a16="http://schemas.microsoft.com/office/drawing/2014/main" id="{BF3A4624-80FE-48FA-A2AE-6DD770824A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077">
            <a:extLst>
              <a:ext uri="{FF2B5EF4-FFF2-40B4-BE49-F238E27FC236}">
                <a16:creationId xmlns:a16="http://schemas.microsoft.com/office/drawing/2014/main" id="{62A14EBB-F033-46BD-9BCA-E43764F836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8">
            <a:extLst>
              <a:ext uri="{FF2B5EF4-FFF2-40B4-BE49-F238E27FC236}">
                <a16:creationId xmlns:a16="http://schemas.microsoft.com/office/drawing/2014/main" id="{BA69A62D-D317-4ECE-B920-C91113F8F6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023E9-D73E-4B21-821A-315608DD72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07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076">
            <a:extLst>
              <a:ext uri="{FF2B5EF4-FFF2-40B4-BE49-F238E27FC236}">
                <a16:creationId xmlns:a16="http://schemas.microsoft.com/office/drawing/2014/main" id="{BE55B079-32F5-4879-9FD6-E867D80DEA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077">
            <a:extLst>
              <a:ext uri="{FF2B5EF4-FFF2-40B4-BE49-F238E27FC236}">
                <a16:creationId xmlns:a16="http://schemas.microsoft.com/office/drawing/2014/main" id="{3638D8F3-3B1E-44E4-9FE7-87C62396FB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8">
            <a:extLst>
              <a:ext uri="{FF2B5EF4-FFF2-40B4-BE49-F238E27FC236}">
                <a16:creationId xmlns:a16="http://schemas.microsoft.com/office/drawing/2014/main" id="{F5C640CB-944D-43E8-901E-EDBF170B47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5B6EA-EDE1-44BC-BD1B-A1D172319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1433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47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076">
            <a:extLst>
              <a:ext uri="{FF2B5EF4-FFF2-40B4-BE49-F238E27FC236}">
                <a16:creationId xmlns:a16="http://schemas.microsoft.com/office/drawing/2014/main" id="{EE90C48C-8285-413A-A26D-9D59A675D6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077">
            <a:extLst>
              <a:ext uri="{FF2B5EF4-FFF2-40B4-BE49-F238E27FC236}">
                <a16:creationId xmlns:a16="http://schemas.microsoft.com/office/drawing/2014/main" id="{C2A11591-2A4F-4B34-98C7-B2D2767C31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8">
            <a:extLst>
              <a:ext uri="{FF2B5EF4-FFF2-40B4-BE49-F238E27FC236}">
                <a16:creationId xmlns:a16="http://schemas.microsoft.com/office/drawing/2014/main" id="{D467B335-6A57-4D83-A1E9-751BD0C5B5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7AE2E-4AA6-48F0-958A-A2A1A323D8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358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1" y="1981200"/>
            <a:ext cx="493541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2185" y="1981200"/>
            <a:ext cx="493541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076">
            <a:extLst>
              <a:ext uri="{FF2B5EF4-FFF2-40B4-BE49-F238E27FC236}">
                <a16:creationId xmlns:a16="http://schemas.microsoft.com/office/drawing/2014/main" id="{294F26AF-FD96-464E-819E-B82CC971BD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7">
            <a:extLst>
              <a:ext uri="{FF2B5EF4-FFF2-40B4-BE49-F238E27FC236}">
                <a16:creationId xmlns:a16="http://schemas.microsoft.com/office/drawing/2014/main" id="{733F07AB-E9BD-42A0-8712-B2FAA5C0FD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078">
            <a:extLst>
              <a:ext uri="{FF2B5EF4-FFF2-40B4-BE49-F238E27FC236}">
                <a16:creationId xmlns:a16="http://schemas.microsoft.com/office/drawing/2014/main" id="{A6A02C7A-EDF0-4E7D-A320-1553C3C5F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E8358-4391-4088-9AC7-2E76FE09C7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90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93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93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076">
            <a:extLst>
              <a:ext uri="{FF2B5EF4-FFF2-40B4-BE49-F238E27FC236}">
                <a16:creationId xmlns:a16="http://schemas.microsoft.com/office/drawing/2014/main" id="{500AAFD0-1D16-46B2-AA54-083DE3D497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077">
            <a:extLst>
              <a:ext uri="{FF2B5EF4-FFF2-40B4-BE49-F238E27FC236}">
                <a16:creationId xmlns:a16="http://schemas.microsoft.com/office/drawing/2014/main" id="{58215ED4-0A27-40AD-A270-126D1F63F3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3078">
            <a:extLst>
              <a:ext uri="{FF2B5EF4-FFF2-40B4-BE49-F238E27FC236}">
                <a16:creationId xmlns:a16="http://schemas.microsoft.com/office/drawing/2014/main" id="{AC2CAF45-6357-4E3A-9E3B-2C2857E62D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C7795-0420-49C3-BE9C-952A822F18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2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076">
            <a:extLst>
              <a:ext uri="{FF2B5EF4-FFF2-40B4-BE49-F238E27FC236}">
                <a16:creationId xmlns:a16="http://schemas.microsoft.com/office/drawing/2014/main" id="{A5961EE2-25D7-4A60-AE38-5EB6B9748A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077">
            <a:extLst>
              <a:ext uri="{FF2B5EF4-FFF2-40B4-BE49-F238E27FC236}">
                <a16:creationId xmlns:a16="http://schemas.microsoft.com/office/drawing/2014/main" id="{60583508-72A4-4DB2-A573-5EE98B7C78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078">
            <a:extLst>
              <a:ext uri="{FF2B5EF4-FFF2-40B4-BE49-F238E27FC236}">
                <a16:creationId xmlns:a16="http://schemas.microsoft.com/office/drawing/2014/main" id="{E1C5154F-5633-44E0-A653-2EB9B59034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B9642-190D-4B3F-AFE5-519381DF84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35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76">
            <a:extLst>
              <a:ext uri="{FF2B5EF4-FFF2-40B4-BE49-F238E27FC236}">
                <a16:creationId xmlns:a16="http://schemas.microsoft.com/office/drawing/2014/main" id="{5993D76E-350C-45D1-90F8-4E8C9E3A38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077">
            <a:extLst>
              <a:ext uri="{FF2B5EF4-FFF2-40B4-BE49-F238E27FC236}">
                <a16:creationId xmlns:a16="http://schemas.microsoft.com/office/drawing/2014/main" id="{88E09265-D611-4C12-895F-26576E4045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078">
            <a:extLst>
              <a:ext uri="{FF2B5EF4-FFF2-40B4-BE49-F238E27FC236}">
                <a16:creationId xmlns:a16="http://schemas.microsoft.com/office/drawing/2014/main" id="{C3BD49D6-A727-439B-BAC7-62ABF4EB59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95BC5-3854-400F-9F17-283CA45512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740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85" y="273051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076">
            <a:extLst>
              <a:ext uri="{FF2B5EF4-FFF2-40B4-BE49-F238E27FC236}">
                <a16:creationId xmlns:a16="http://schemas.microsoft.com/office/drawing/2014/main" id="{034C7BEE-C7E8-4BD6-9FA5-F69A7D311E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7">
            <a:extLst>
              <a:ext uri="{FF2B5EF4-FFF2-40B4-BE49-F238E27FC236}">
                <a16:creationId xmlns:a16="http://schemas.microsoft.com/office/drawing/2014/main" id="{4E288110-B3B2-48EB-86BA-29FD985908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078">
            <a:extLst>
              <a:ext uri="{FF2B5EF4-FFF2-40B4-BE49-F238E27FC236}">
                <a16:creationId xmlns:a16="http://schemas.microsoft.com/office/drawing/2014/main" id="{EE4B1869-59FC-4408-9B9C-1ACF5CACC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56498-8EFF-4E4D-A79B-7F75B7CB2B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66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076">
            <a:extLst>
              <a:ext uri="{FF2B5EF4-FFF2-40B4-BE49-F238E27FC236}">
                <a16:creationId xmlns:a16="http://schemas.microsoft.com/office/drawing/2014/main" id="{463382D3-B3CA-4B9D-AC57-60EC007A34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7">
            <a:extLst>
              <a:ext uri="{FF2B5EF4-FFF2-40B4-BE49-F238E27FC236}">
                <a16:creationId xmlns:a16="http://schemas.microsoft.com/office/drawing/2014/main" id="{D68DD15B-3477-43B3-A3DD-DBBC126D3D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078">
            <a:extLst>
              <a:ext uri="{FF2B5EF4-FFF2-40B4-BE49-F238E27FC236}">
                <a16:creationId xmlns:a16="http://schemas.microsoft.com/office/drawing/2014/main" id="{3FB621AF-F863-4E91-87B8-A7CED8384A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97B25-5311-4F5E-9E52-F689FCCB10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480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076">
            <a:extLst>
              <a:ext uri="{FF2B5EF4-FFF2-40B4-BE49-F238E27FC236}">
                <a16:creationId xmlns:a16="http://schemas.microsoft.com/office/drawing/2014/main" id="{898FDBC7-6D08-4C33-A4B6-E884CC9184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077">
            <a:extLst>
              <a:ext uri="{FF2B5EF4-FFF2-40B4-BE49-F238E27FC236}">
                <a16:creationId xmlns:a16="http://schemas.microsoft.com/office/drawing/2014/main" id="{03998969-C0BD-4800-8DEB-7562203D00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8">
            <a:extLst>
              <a:ext uri="{FF2B5EF4-FFF2-40B4-BE49-F238E27FC236}">
                <a16:creationId xmlns:a16="http://schemas.microsoft.com/office/drawing/2014/main" id="{9D612A48-6177-43E4-8F90-DCEA701A1D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2CCC2-0249-42E7-94D0-9CF34B7F6B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863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3001" y="609600"/>
            <a:ext cx="2514599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609600"/>
            <a:ext cx="7356231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076">
            <a:extLst>
              <a:ext uri="{FF2B5EF4-FFF2-40B4-BE49-F238E27FC236}">
                <a16:creationId xmlns:a16="http://schemas.microsoft.com/office/drawing/2014/main" id="{B31FEB70-A68D-4074-B486-58B99620C5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077">
            <a:extLst>
              <a:ext uri="{FF2B5EF4-FFF2-40B4-BE49-F238E27FC236}">
                <a16:creationId xmlns:a16="http://schemas.microsoft.com/office/drawing/2014/main" id="{31E588AA-31C7-4B60-8952-4048E4E4F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078">
            <a:extLst>
              <a:ext uri="{FF2B5EF4-FFF2-40B4-BE49-F238E27FC236}">
                <a16:creationId xmlns:a16="http://schemas.microsoft.com/office/drawing/2014/main" id="{2B4693C9-1ED7-4E84-B17E-75ACA0FD7A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2685-B792-4F0A-9A8C-B8B8FA7728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6347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074">
            <a:extLst>
              <a:ext uri="{FF2B5EF4-FFF2-40B4-BE49-F238E27FC236}">
                <a16:creationId xmlns:a16="http://schemas.microsoft.com/office/drawing/2014/main" id="{D98FDF82-E5F8-45ED-BE47-0BDB09BE68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09600"/>
            <a:ext cx="10058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075">
            <a:extLst>
              <a:ext uri="{FF2B5EF4-FFF2-40B4-BE49-F238E27FC236}">
                <a16:creationId xmlns:a16="http://schemas.microsoft.com/office/drawing/2014/main" id="{AF2ECC86-78B6-4E32-93E7-7C21E5C09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981200"/>
            <a:ext cx="10058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00" name="Rectangle 3076">
            <a:extLst>
              <a:ext uri="{FF2B5EF4-FFF2-40B4-BE49-F238E27FC236}">
                <a16:creationId xmlns:a16="http://schemas.microsoft.com/office/drawing/2014/main" id="{D80DA13F-F063-4D7E-8C08-413FCD579C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1" name="Rectangle 3077">
            <a:extLst>
              <a:ext uri="{FF2B5EF4-FFF2-40B4-BE49-F238E27FC236}">
                <a16:creationId xmlns:a16="http://schemas.microsoft.com/office/drawing/2014/main" id="{EE807AE4-57F4-4F14-9E32-2B2C4356C8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2" name="Rectangle 3078">
            <a:extLst>
              <a:ext uri="{FF2B5EF4-FFF2-40B4-BE49-F238E27FC236}">
                <a16:creationId xmlns:a16="http://schemas.microsoft.com/office/drawing/2014/main" id="{01015329-C077-4C81-94AE-02BD77D3A1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276D09B-A5DB-40B9-8CDD-0C8D1481DE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307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6F14220-5EE6-44BC-B13B-79AA1458E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400"/>
          </a:p>
        </p:txBody>
      </p:sp>
      <p:sp>
        <p:nvSpPr>
          <p:cNvPr id="1032" name="Rectangle 308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7A4D99-0AF8-4E49-A600-155C6DF60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615" y="629285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400"/>
          </a:p>
        </p:txBody>
      </p:sp>
      <p:sp>
        <p:nvSpPr>
          <p:cNvPr id="1033" name="Rectangle 308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EC03455-934C-4898-9CF8-45C67D31A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1200" y="6308725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63391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Relationship Id="rId22" Type="http://schemas.openxmlformats.org/officeDocument/2006/relationships/image" Target="../media/image1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2.wmf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5" Type="http://schemas.openxmlformats.org/officeDocument/2006/relationships/image" Target="../media/image18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1.wmf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4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4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59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5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72.wmf"/><Relationship Id="rId26" Type="http://schemas.openxmlformats.org/officeDocument/2006/relationships/image" Target="../media/image76.wmf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0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58.bin"/><Relationship Id="rId25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55.bin"/><Relationship Id="rId24" Type="http://schemas.openxmlformats.org/officeDocument/2006/relationships/image" Target="../media/image75.wmf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61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8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9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8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97.wmf"/><Relationship Id="rId26" Type="http://schemas.openxmlformats.org/officeDocument/2006/relationships/image" Target="../media/image101.wmf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83.bin"/><Relationship Id="rId25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100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oleObject" Target="../embeddings/oleObject86.bin"/><Relationship Id="rId28" Type="http://schemas.openxmlformats.org/officeDocument/2006/relationships/image" Target="../media/image102.wmf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90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95.wmf"/><Relationship Id="rId22" Type="http://schemas.openxmlformats.org/officeDocument/2006/relationships/image" Target="../media/image99.wmf"/><Relationship Id="rId27" Type="http://schemas.openxmlformats.org/officeDocument/2006/relationships/oleObject" Target="../embeddings/oleObject8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12.bin"/><Relationship Id="rId3" Type="http://schemas.openxmlformats.org/officeDocument/2006/relationships/oleObject" Target="../embeddings/oleObject105.bin"/><Relationship Id="rId7" Type="http://schemas.openxmlformats.org/officeDocument/2006/relationships/image" Target="../media/image127.e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25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11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0.wmf"/><Relationship Id="rId11" Type="http://schemas.openxmlformats.org/officeDocument/2006/relationships/image" Target="../media/image122.wmf"/><Relationship Id="rId5" Type="http://schemas.openxmlformats.org/officeDocument/2006/relationships/oleObject" Target="../embeddings/oleObject106.bin"/><Relationship Id="rId15" Type="http://schemas.openxmlformats.org/officeDocument/2006/relationships/image" Target="../media/image124.w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26.wmf"/><Relationship Id="rId4" Type="http://schemas.openxmlformats.org/officeDocument/2006/relationships/image" Target="../media/image119.wmf"/><Relationship Id="rId9" Type="http://schemas.openxmlformats.org/officeDocument/2006/relationships/image" Target="../media/image121.wmf"/><Relationship Id="rId14" Type="http://schemas.openxmlformats.org/officeDocument/2006/relationships/oleObject" Target="../embeddings/oleObject11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35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2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3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4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40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2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30.bin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44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4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43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4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37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5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5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58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20" Type="http://schemas.openxmlformats.org/officeDocument/2006/relationships/image" Target="../media/image15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54.wmf"/><Relationship Id="rId19" Type="http://schemas.openxmlformats.org/officeDocument/2006/relationships/oleObject" Target="../embeddings/oleObject146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5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60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68.wmf"/><Relationship Id="rId26" Type="http://schemas.openxmlformats.org/officeDocument/2006/relationships/image" Target="../media/image172.w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8.bin"/><Relationship Id="rId34" Type="http://schemas.openxmlformats.org/officeDocument/2006/relationships/image" Target="../media/image176.wmf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65.wmf"/><Relationship Id="rId17" Type="http://schemas.openxmlformats.org/officeDocument/2006/relationships/oleObject" Target="../embeddings/oleObject156.bin"/><Relationship Id="rId25" Type="http://schemas.openxmlformats.org/officeDocument/2006/relationships/oleObject" Target="../embeddings/oleObject160.bin"/><Relationship Id="rId33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7.wmf"/><Relationship Id="rId20" Type="http://schemas.openxmlformats.org/officeDocument/2006/relationships/image" Target="../media/image169.wmf"/><Relationship Id="rId29" Type="http://schemas.openxmlformats.org/officeDocument/2006/relationships/oleObject" Target="../embeddings/oleObject162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53.bin"/><Relationship Id="rId24" Type="http://schemas.openxmlformats.org/officeDocument/2006/relationships/image" Target="../media/image171.wmf"/><Relationship Id="rId32" Type="http://schemas.openxmlformats.org/officeDocument/2006/relationships/image" Target="../media/image175.wmf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23" Type="http://schemas.openxmlformats.org/officeDocument/2006/relationships/oleObject" Target="../embeddings/oleObject159.bin"/><Relationship Id="rId28" Type="http://schemas.openxmlformats.org/officeDocument/2006/relationships/image" Target="../media/image173.wmf"/><Relationship Id="rId10" Type="http://schemas.openxmlformats.org/officeDocument/2006/relationships/image" Target="../media/image164.wmf"/><Relationship Id="rId19" Type="http://schemas.openxmlformats.org/officeDocument/2006/relationships/oleObject" Target="../embeddings/oleObject157.bin"/><Relationship Id="rId31" Type="http://schemas.openxmlformats.org/officeDocument/2006/relationships/oleObject" Target="../embeddings/oleObject163.bin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66.wmf"/><Relationship Id="rId22" Type="http://schemas.openxmlformats.org/officeDocument/2006/relationships/image" Target="../media/image170.wmf"/><Relationship Id="rId27" Type="http://schemas.openxmlformats.org/officeDocument/2006/relationships/oleObject" Target="../embeddings/oleObject161.bin"/><Relationship Id="rId30" Type="http://schemas.openxmlformats.org/officeDocument/2006/relationships/image" Target="../media/image174.wmf"/><Relationship Id="rId8" Type="http://schemas.openxmlformats.org/officeDocument/2006/relationships/image" Target="../media/image16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69.bin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80.w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8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89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1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10" Type="http://schemas.openxmlformats.org/officeDocument/2006/relationships/image" Target="../media/image185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8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9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81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8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203.wmf"/><Relationship Id="rId3" Type="http://schemas.openxmlformats.org/officeDocument/2006/relationships/oleObject" Target="../embeddings/oleObject184.bin"/><Relationship Id="rId21" Type="http://schemas.openxmlformats.org/officeDocument/2006/relationships/oleObject" Target="../embeddings/oleObject193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19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02.wmf"/><Relationship Id="rId20" Type="http://schemas.openxmlformats.org/officeDocument/2006/relationships/image" Target="../media/image204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188.bin"/><Relationship Id="rId24" Type="http://schemas.openxmlformats.org/officeDocument/2006/relationships/image" Target="../media/image206.wmf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10" Type="http://schemas.openxmlformats.org/officeDocument/2006/relationships/image" Target="../media/image199.wmf"/><Relationship Id="rId19" Type="http://schemas.openxmlformats.org/officeDocument/2006/relationships/oleObject" Target="../embeddings/oleObject192.bin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201.wmf"/><Relationship Id="rId22" Type="http://schemas.openxmlformats.org/officeDocument/2006/relationships/image" Target="../media/image20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oleObject" Target="../embeddings/oleObject200.bin"/><Relationship Id="rId18" Type="http://schemas.openxmlformats.org/officeDocument/2006/relationships/image" Target="../media/image214.wmf"/><Relationship Id="rId26" Type="http://schemas.openxmlformats.org/officeDocument/2006/relationships/image" Target="../media/image218.wmf"/><Relationship Id="rId3" Type="http://schemas.openxmlformats.org/officeDocument/2006/relationships/oleObject" Target="../embeddings/oleObject195.bin"/><Relationship Id="rId21" Type="http://schemas.openxmlformats.org/officeDocument/2006/relationships/oleObject" Target="../embeddings/oleObject204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202.bin"/><Relationship Id="rId25" Type="http://schemas.openxmlformats.org/officeDocument/2006/relationships/oleObject" Target="../embeddings/oleObject20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13.wmf"/><Relationship Id="rId20" Type="http://schemas.openxmlformats.org/officeDocument/2006/relationships/image" Target="../media/image215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199.bin"/><Relationship Id="rId24" Type="http://schemas.openxmlformats.org/officeDocument/2006/relationships/image" Target="../media/image217.wmf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1.bin"/><Relationship Id="rId23" Type="http://schemas.openxmlformats.org/officeDocument/2006/relationships/oleObject" Target="../embeddings/oleObject205.bin"/><Relationship Id="rId28" Type="http://schemas.openxmlformats.org/officeDocument/2006/relationships/image" Target="../media/image219.wmf"/><Relationship Id="rId10" Type="http://schemas.openxmlformats.org/officeDocument/2006/relationships/image" Target="../media/image210.wmf"/><Relationship Id="rId19" Type="http://schemas.openxmlformats.org/officeDocument/2006/relationships/oleObject" Target="../embeddings/oleObject203.bin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212.wmf"/><Relationship Id="rId22" Type="http://schemas.openxmlformats.org/officeDocument/2006/relationships/image" Target="../media/image216.wmf"/><Relationship Id="rId27" Type="http://schemas.openxmlformats.org/officeDocument/2006/relationships/oleObject" Target="../embeddings/oleObject20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728A1234-6C23-4954-8106-040B66FEC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9769" y="3512858"/>
            <a:ext cx="10318489" cy="1143000"/>
          </a:xfrm>
        </p:spPr>
        <p:txBody>
          <a:bodyPr/>
          <a:lstStyle/>
          <a:p>
            <a:r>
              <a:rPr lang="en-US" altLang="zh-CN" sz="6000" dirty="0"/>
              <a:t>2.4 </a:t>
            </a:r>
            <a:r>
              <a:rPr lang="zh-CN" altLang="en-US" sz="6000" dirty="0"/>
              <a:t>直线和平面的位置关系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F3F650-F964-4489-BEB5-6535ED96919D}"/>
              </a:ext>
            </a:extLst>
          </p:cNvPr>
          <p:cNvSpPr/>
          <p:nvPr/>
        </p:nvSpPr>
        <p:spPr>
          <a:xfrm>
            <a:off x="2277436" y="2032751"/>
            <a:ext cx="694292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b="1" dirty="0">
                <a:latin typeface="+mj-lt"/>
                <a:ea typeface="+mj-ea"/>
              </a:rPr>
              <a:t>2.3</a:t>
            </a:r>
            <a:r>
              <a:rPr lang="en-US" altLang="zh-CN" sz="6000" b="1" dirty="0">
                <a:latin typeface="+mj-ea"/>
                <a:ea typeface="+mj-ea"/>
              </a:rPr>
              <a:t> </a:t>
            </a:r>
            <a:r>
              <a:rPr lang="zh-CN" altLang="en-US" sz="6000" b="1" dirty="0">
                <a:latin typeface="+mj-ea"/>
                <a:ea typeface="+mj-ea"/>
              </a:rPr>
              <a:t>空间直线的方程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789772" y="2690420"/>
            <a:ext cx="4419600" cy="1219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0" name="Rectangle 3"/>
          <p:cNvSpPr>
            <a:spLocks noGrp="1" noChangeArrowheads="1"/>
          </p:cNvSpPr>
          <p:nvPr>
            <p:ph type="title"/>
          </p:nvPr>
        </p:nvSpPr>
        <p:spPr>
          <a:xfrm>
            <a:off x="3937919" y="324453"/>
            <a:ext cx="4391025" cy="7620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空间直线方程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481763" y="3962400"/>
            <a:ext cx="3321050" cy="2286000"/>
            <a:chOff x="0" y="0"/>
            <a:chExt cx="2092" cy="1440"/>
          </a:xfrm>
        </p:grpSpPr>
        <p:sp>
          <p:nvSpPr>
            <p:cNvPr id="22562" name="Line 5"/>
            <p:cNvSpPr>
              <a:spLocks noChangeShapeType="1"/>
            </p:cNvSpPr>
            <p:nvPr/>
          </p:nvSpPr>
          <p:spPr bwMode="auto">
            <a:xfrm>
              <a:off x="624" y="1008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3" name="Line 6"/>
            <p:cNvSpPr>
              <a:spLocks noChangeShapeType="1"/>
            </p:cNvSpPr>
            <p:nvPr/>
          </p:nvSpPr>
          <p:spPr bwMode="auto">
            <a:xfrm flipV="1">
              <a:off x="624" y="0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4" name="Line 7"/>
            <p:cNvSpPr>
              <a:spLocks noChangeShapeType="1"/>
            </p:cNvSpPr>
            <p:nvPr/>
          </p:nvSpPr>
          <p:spPr bwMode="auto">
            <a:xfrm flipH="1">
              <a:off x="0" y="1008"/>
              <a:ext cx="624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35" name="Object 8"/>
            <p:cNvGraphicFramePr>
              <a:graphicFrameLocks noChangeAspect="1"/>
            </p:cNvGraphicFramePr>
            <p:nvPr/>
          </p:nvGraphicFramePr>
          <p:xfrm>
            <a:off x="144" y="1208"/>
            <a:ext cx="20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6" r:id="rId3" imgW="127871" imgH="140626" progId="Equation.3">
                    <p:embed/>
                  </p:oleObj>
                </mc:Choice>
                <mc:Fallback>
                  <p:oleObj r:id="rId3" imgW="127871" imgH="140626" progId="Equation.3">
                    <p:embed/>
                    <p:pic>
                      <p:nvPicPr>
                        <p:cNvPr id="2253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208"/>
                          <a:ext cx="208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6" name="Object 9"/>
            <p:cNvGraphicFramePr>
              <a:graphicFrameLocks noChangeAspect="1"/>
            </p:cNvGraphicFramePr>
            <p:nvPr/>
          </p:nvGraphicFramePr>
          <p:xfrm>
            <a:off x="1860" y="1008"/>
            <a:ext cx="23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7" r:id="rId5" imgW="140565" imgH="166064" progId="Equation.3">
                    <p:embed/>
                  </p:oleObj>
                </mc:Choice>
                <mc:Fallback>
                  <p:oleObj r:id="rId5" imgW="140565" imgH="166064" progId="Equation.3">
                    <p:embed/>
                    <p:pic>
                      <p:nvPicPr>
                        <p:cNvPr id="2253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1008"/>
                          <a:ext cx="232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7" name="Object 10"/>
            <p:cNvGraphicFramePr>
              <a:graphicFrameLocks noChangeAspect="1"/>
            </p:cNvGraphicFramePr>
            <p:nvPr/>
          </p:nvGraphicFramePr>
          <p:xfrm>
            <a:off x="656" y="11"/>
            <a:ext cx="20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" r:id="rId7" imgW="128038" imgH="128038" progId="Equation.3">
                    <p:embed/>
                  </p:oleObj>
                </mc:Choice>
                <mc:Fallback>
                  <p:oleObj r:id="rId7" imgW="128038" imgH="128038" progId="Equation.3">
                    <p:embed/>
                    <p:pic>
                      <p:nvPicPr>
                        <p:cNvPr id="2253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" y="11"/>
                          <a:ext cx="208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8" name="Object 11"/>
            <p:cNvGraphicFramePr>
              <a:graphicFrameLocks noChangeAspect="1"/>
            </p:cNvGraphicFramePr>
            <p:nvPr/>
          </p:nvGraphicFramePr>
          <p:xfrm>
            <a:off x="560" y="1008"/>
            <a:ext cx="20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" r:id="rId9" imgW="127871" imgH="140626" progId="Equation.3">
                    <p:embed/>
                  </p:oleObj>
                </mc:Choice>
                <mc:Fallback>
                  <p:oleObj r:id="rId9" imgW="127871" imgH="140626" progId="Equation.3">
                    <p:embed/>
                    <p:pic>
                      <p:nvPicPr>
                        <p:cNvPr id="2253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" y="1008"/>
                          <a:ext cx="208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756483"/>
              </p:ext>
            </p:extLst>
          </p:nvPr>
        </p:nvGraphicFramePr>
        <p:xfrm>
          <a:off x="3062822" y="2804720"/>
          <a:ext cx="3949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" name="Equation" r:id="rId11" imgW="3948303" imgH="495402" progId="Equation.DSMT4">
                  <p:embed/>
                </p:oleObj>
              </mc:Choice>
              <mc:Fallback>
                <p:oleObj name="Equation" r:id="rId11" imgW="3948303" imgH="495402" progId="Equation.DSMT4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822" y="2804720"/>
                        <a:ext cx="39497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416260"/>
              </p:ext>
            </p:extLst>
          </p:nvPr>
        </p:nvGraphicFramePr>
        <p:xfrm>
          <a:off x="3043772" y="3382570"/>
          <a:ext cx="38941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" name="Equation" r:id="rId13" imgW="3899217" imgH="457517" progId="Equation.DSMT4">
                  <p:embed/>
                </p:oleObj>
              </mc:Choice>
              <mc:Fallback>
                <p:oleObj name="Equation" r:id="rId13" imgW="3899217" imgH="457517" progId="Equation.DSMT4">
                  <p:embed/>
                  <p:pic>
                    <p:nvPicPr>
                      <p:cNvPr id="22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772" y="3382570"/>
                        <a:ext cx="389413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8166101" y="4000501"/>
            <a:ext cx="754063" cy="1871663"/>
            <a:chOff x="0" y="0"/>
            <a:chExt cx="475" cy="1134"/>
          </a:xfrm>
        </p:grpSpPr>
        <p:sp>
          <p:nvSpPr>
            <p:cNvPr id="22561" name="AutoShape 15"/>
            <p:cNvSpPr>
              <a:spLocks noChangeArrowheads="1"/>
            </p:cNvSpPr>
            <p:nvPr/>
          </p:nvSpPr>
          <p:spPr bwMode="auto">
            <a:xfrm rot="-3039119">
              <a:off x="-378" y="374"/>
              <a:ext cx="1134" cy="377"/>
            </a:xfrm>
            <a:prstGeom prst="parallelogram">
              <a:avLst>
                <a:gd name="adj" fmla="val 2638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34" name="Object 16"/>
            <p:cNvGraphicFramePr>
              <a:graphicFrameLocks noChangeAspect="1"/>
            </p:cNvGraphicFramePr>
            <p:nvPr/>
          </p:nvGraphicFramePr>
          <p:xfrm>
            <a:off x="283" y="167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2" r:id="rId15" imgW="458711" imgH="458711" progId="Equation.3">
                    <p:embed/>
                  </p:oleObj>
                </mc:Choice>
                <mc:Fallback>
                  <p:oleObj r:id="rId15" imgW="458711" imgH="458711" progId="Equation.3">
                    <p:embed/>
                    <p:pic>
                      <p:nvPicPr>
                        <p:cNvPr id="2253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167"/>
                          <a:ext cx="192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7970838" y="4583114"/>
            <a:ext cx="2239962" cy="1055687"/>
            <a:chOff x="0" y="0"/>
            <a:chExt cx="1411" cy="665"/>
          </a:xfrm>
        </p:grpSpPr>
        <p:sp>
          <p:nvSpPr>
            <p:cNvPr id="22560" name="AutoShape 18"/>
            <p:cNvSpPr>
              <a:spLocks noChangeArrowheads="1"/>
            </p:cNvSpPr>
            <p:nvPr/>
          </p:nvSpPr>
          <p:spPr bwMode="auto">
            <a:xfrm rot="-719081">
              <a:off x="0" y="0"/>
              <a:ext cx="1411" cy="665"/>
            </a:xfrm>
            <a:prstGeom prst="parallelogram">
              <a:avLst>
                <a:gd name="adj" fmla="val 12451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33" name="Object 19"/>
            <p:cNvGraphicFramePr>
              <a:graphicFrameLocks noChangeAspect="1"/>
            </p:cNvGraphicFramePr>
            <p:nvPr/>
          </p:nvGraphicFramePr>
          <p:xfrm>
            <a:off x="497" y="463"/>
            <a:ext cx="19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3" r:id="rId17" imgW="471444" imgH="458711" progId="Equation.3">
                    <p:embed/>
                  </p:oleObj>
                </mc:Choice>
                <mc:Fallback>
                  <p:oleObj r:id="rId17" imgW="471444" imgH="458711" progId="Equation.3">
                    <p:embed/>
                    <p:pic>
                      <p:nvPicPr>
                        <p:cNvPr id="2253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" y="463"/>
                          <a:ext cx="197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66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8094663" y="4038600"/>
            <a:ext cx="1428750" cy="1817688"/>
            <a:chOff x="0" y="0"/>
            <a:chExt cx="900" cy="1145"/>
          </a:xfrm>
        </p:grpSpPr>
        <p:sp>
          <p:nvSpPr>
            <p:cNvPr id="22559" name="Line 21"/>
            <p:cNvSpPr>
              <a:spLocks noChangeShapeType="1"/>
            </p:cNvSpPr>
            <p:nvPr/>
          </p:nvSpPr>
          <p:spPr bwMode="auto">
            <a:xfrm flipV="1">
              <a:off x="0" y="321"/>
              <a:ext cx="700" cy="8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32" name="Object 22"/>
            <p:cNvGraphicFramePr>
              <a:graphicFrameLocks noChangeAspect="1"/>
            </p:cNvGraphicFramePr>
            <p:nvPr/>
          </p:nvGraphicFramePr>
          <p:xfrm>
            <a:off x="664" y="0"/>
            <a:ext cx="236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4" r:id="rId19" imgW="140565" imgH="166064" progId="Equation.3">
                    <p:embed/>
                  </p:oleObj>
                </mc:Choice>
                <mc:Fallback>
                  <p:oleObj r:id="rId19" imgW="140565" imgH="166064" progId="Equation.3">
                    <p:embed/>
                    <p:pic>
                      <p:nvPicPr>
                        <p:cNvPr id="22532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" y="0"/>
                          <a:ext cx="236" cy="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5156517" y="1935758"/>
            <a:ext cx="3276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因此其一般式方程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1295400" y="1259736"/>
            <a:ext cx="2687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zh-CN" sz="2800" b="1" dirty="0">
                <a:solidFill>
                  <a:srgbClr val="0066CC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800" b="1" dirty="0">
                <a:solidFill>
                  <a:srgbClr val="0066CC"/>
                </a:solidFill>
                <a:latin typeface="黑体" pitchFamily="2" charset="-122"/>
                <a:ea typeface="黑体" pitchFamily="2" charset="-122"/>
              </a:rPr>
              <a:t>一般式方程 </a:t>
            </a: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1281430" y="1926233"/>
            <a:ext cx="41132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直线可视为两平面交线，</a:t>
            </a:r>
          </a:p>
        </p:txBody>
      </p:sp>
      <p:sp>
        <p:nvSpPr>
          <p:cNvPr id="22554" name="AutoShape 26"/>
          <p:cNvSpPr>
            <a:spLocks/>
          </p:cNvSpPr>
          <p:nvPr/>
        </p:nvSpPr>
        <p:spPr bwMode="auto">
          <a:xfrm>
            <a:off x="2942172" y="284282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组合 38"/>
          <p:cNvGrpSpPr/>
          <p:nvPr/>
        </p:nvGrpSpPr>
        <p:grpSpPr>
          <a:xfrm>
            <a:off x="2881290" y="4143380"/>
            <a:ext cx="4342856" cy="977900"/>
            <a:chOff x="928662" y="3929066"/>
            <a:chExt cx="4342856" cy="977900"/>
          </a:xfrm>
        </p:grpSpPr>
        <p:sp>
          <p:nvSpPr>
            <p:cNvPr id="37" name="TextBox 36"/>
            <p:cNvSpPr txBox="1"/>
            <p:nvPr/>
          </p:nvSpPr>
          <p:spPr>
            <a:xfrm>
              <a:off x="928662" y="4143380"/>
              <a:ext cx="43428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其中             不成立</a:t>
              </a:r>
            </a:p>
          </p:txBody>
        </p:sp>
        <p:graphicFrame>
          <p:nvGraphicFramePr>
            <p:cNvPr id="21507" name="Object 3"/>
            <p:cNvGraphicFramePr>
              <a:graphicFrameLocks noChangeAspect="1"/>
            </p:cNvGraphicFramePr>
            <p:nvPr/>
          </p:nvGraphicFramePr>
          <p:xfrm>
            <a:off x="1928794" y="3929066"/>
            <a:ext cx="2095500" cy="97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5" r:id="rId21" imgW="2095817" imgH="978217" progId="Equation.3">
                    <p:embed/>
                  </p:oleObj>
                </mc:Choice>
                <mc:Fallback>
                  <p:oleObj r:id="rId21" imgW="2095817" imgH="978217" progId="Equation.3">
                    <p:embed/>
                    <p:pic>
                      <p:nvPicPr>
                        <p:cNvPr id="2150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794" y="3929066"/>
                          <a:ext cx="2095500" cy="977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51" grpId="0" autoUpdateAnimBg="0"/>
      <p:bldP spid="22552" grpId="0" autoUpdateAnimBg="0"/>
      <p:bldP spid="22553" grpId="0" autoUpdateAnimBg="0"/>
      <p:bldP spid="2255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66822" y="814365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特殊位置直线的方程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23" y="1743060"/>
            <a:ext cx="3794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直线与</a:t>
            </a:r>
            <a:r>
              <a:rPr lang="en-US" altLang="zh-CN" sz="2800" b="1" i="1" dirty="0">
                <a:ea typeface="黑体" pitchFamily="49" charset="-122"/>
              </a:rPr>
              <a:t>x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轴平行， 则</a:t>
            </a:r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730753"/>
              </p:ext>
            </p:extLst>
          </p:nvPr>
        </p:nvGraphicFramePr>
        <p:xfrm>
          <a:off x="5181598" y="1782211"/>
          <a:ext cx="2143140" cy="568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Equation" r:id="rId3" imgW="723600" imgH="228600" progId="Equation.DSMT4">
                  <p:embed/>
                </p:oleObj>
              </mc:Choice>
              <mc:Fallback>
                <p:oleObj name="Equation" r:id="rId3" imgW="723600" imgH="228600" progId="Equation.DSMT4">
                  <p:embed/>
                  <p:pic>
                    <p:nvPicPr>
                      <p:cNvPr id="22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598" y="1782211"/>
                        <a:ext cx="2143140" cy="5683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466823" y="2671755"/>
            <a:ext cx="5648349" cy="639763"/>
            <a:chOff x="785786" y="2571744"/>
            <a:chExt cx="5648349" cy="639763"/>
          </a:xfrm>
        </p:grpSpPr>
        <p:sp>
          <p:nvSpPr>
            <p:cNvPr id="8" name="TextBox 7"/>
            <p:cNvSpPr txBox="1"/>
            <p:nvPr/>
          </p:nvSpPr>
          <p:spPr>
            <a:xfrm>
              <a:off x="785786" y="2571744"/>
              <a:ext cx="34323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黑体" pitchFamily="49" charset="-122"/>
                  <a:ea typeface="黑体" pitchFamily="49" charset="-122"/>
                </a:rPr>
                <a:t>2.</a:t>
              </a:r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直线经过原点，则</a:t>
              </a:r>
            </a:p>
          </p:txBody>
        </p:sp>
        <p:graphicFrame>
          <p:nvGraphicFramePr>
            <p:cNvPr id="7" name="Object 13"/>
            <p:cNvGraphicFramePr>
              <a:graphicFrameLocks noChangeAspect="1"/>
            </p:cNvGraphicFramePr>
            <p:nvPr/>
          </p:nvGraphicFramePr>
          <p:xfrm>
            <a:off x="4214810" y="2643182"/>
            <a:ext cx="2219325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" name="Equation" r:id="rId5" imgW="749160" imgH="228600" progId="Equation.DSMT4">
                    <p:embed/>
                  </p:oleObj>
                </mc:Choice>
                <mc:Fallback>
                  <p:oleObj name="Equation" r:id="rId5" imgW="749160" imgH="228600" progId="Equation.DSMT4">
                    <p:embed/>
                    <p:pic>
                      <p:nvPicPr>
                        <p:cNvPr id="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810" y="2643182"/>
                          <a:ext cx="2219325" cy="568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Box 10"/>
          <p:cNvSpPr txBox="1"/>
          <p:nvPr/>
        </p:nvSpPr>
        <p:spPr>
          <a:xfrm>
            <a:off x="1466822" y="3529010"/>
            <a:ext cx="3613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直线与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z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轴重合，则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274713"/>
              </p:ext>
            </p:extLst>
          </p:nvPr>
        </p:nvGraphicFramePr>
        <p:xfrm>
          <a:off x="4983162" y="3600451"/>
          <a:ext cx="22558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" name="Equation" r:id="rId7" imgW="761760" imgH="228600" progId="Equation.DSMT4">
                  <p:embed/>
                </p:oleObj>
              </mc:Choice>
              <mc:Fallback>
                <p:oleObj name="Equation" r:id="rId7" imgW="761760" imgH="228600" progId="Equation.DSMT4">
                  <p:embed/>
                  <p:pic>
                    <p:nvPicPr>
                      <p:cNvPr id="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3162" y="3600451"/>
                        <a:ext cx="225583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37094"/>
              </p:ext>
            </p:extLst>
          </p:nvPr>
        </p:nvGraphicFramePr>
        <p:xfrm>
          <a:off x="7253301" y="3600449"/>
          <a:ext cx="2219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Equation" r:id="rId9" imgW="749160" imgH="228600" progId="Equation.DSMT4">
                  <p:embed/>
                </p:oleObj>
              </mc:Choice>
              <mc:Fallback>
                <p:oleObj name="Equation" r:id="rId9" imgW="749160" imgH="22860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301" y="3600449"/>
                        <a:ext cx="221932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7133" y="649811"/>
            <a:ext cx="83231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练习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： 已知直线                           与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2800" b="1" i="1" dirty="0">
                <a:ea typeface="黑体" pitchFamily="49" charset="-122"/>
              </a:rPr>
              <a:t>z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轴相交，求</a:t>
            </a:r>
            <a:r>
              <a:rPr lang="en-US" altLang="zh-CN" sz="2800" b="1" i="1" dirty="0">
                <a:latin typeface="+mj-lt"/>
                <a:ea typeface="黑体" pitchFamily="49" charset="-122"/>
              </a:rPr>
              <a:t>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值。</a:t>
            </a:r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279143"/>
              </p:ext>
            </p:extLst>
          </p:nvPr>
        </p:nvGraphicFramePr>
        <p:xfrm>
          <a:off x="4778712" y="395829"/>
          <a:ext cx="36099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3" imgW="1218960" imgH="457200" progId="Equation.DSMT4">
                  <p:embed/>
                </p:oleObj>
              </mc:Choice>
              <mc:Fallback>
                <p:oleObj name="Equation" r:id="rId3" imgW="1218960" imgH="457200" progId="Equation.DSMT4">
                  <p:embed/>
                  <p:pic>
                    <p:nvPicPr>
                      <p:cNvPr id="22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712" y="395829"/>
                        <a:ext cx="3609975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4A31EDA-B33C-4E72-AEA5-9A4FE00022BC}"/>
              </a:ext>
            </a:extLst>
          </p:cNvPr>
          <p:cNvSpPr txBox="1"/>
          <p:nvPr/>
        </p:nvSpPr>
        <p:spPr>
          <a:xfrm>
            <a:off x="1348513" y="2353334"/>
            <a:ext cx="9549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j-ea"/>
                <a:ea typeface="+mj-ea"/>
              </a:rPr>
              <a:t>a.</a:t>
            </a:r>
            <a:r>
              <a:rPr lang="en-US" altLang="zh-CN" sz="2800" b="1" i="1" dirty="0">
                <a:ea typeface="黑体" pitchFamily="49" charset="-122"/>
              </a:rPr>
              <a:t> D </a:t>
            </a:r>
            <a:r>
              <a:rPr lang="en-US" altLang="zh-CN" sz="2800" b="1" dirty="0">
                <a:latin typeface="+mj-ea"/>
                <a:ea typeface="+mj-ea"/>
              </a:rPr>
              <a:t>=1       b.</a:t>
            </a:r>
            <a:r>
              <a:rPr lang="en-US" altLang="zh-CN" sz="2800" b="1" i="1" dirty="0">
                <a:ea typeface="黑体" pitchFamily="49" charset="-122"/>
              </a:rPr>
              <a:t> D </a:t>
            </a:r>
            <a:r>
              <a:rPr lang="en-US" altLang="zh-CN" sz="2800" b="1" dirty="0">
                <a:latin typeface="+mj-ea"/>
                <a:ea typeface="+mj-ea"/>
              </a:rPr>
              <a:t>=2         c.</a:t>
            </a:r>
            <a:r>
              <a:rPr lang="en-US" altLang="zh-CN" sz="2800" b="1" i="1" dirty="0">
                <a:ea typeface="黑体" pitchFamily="49" charset="-122"/>
              </a:rPr>
              <a:t> D </a:t>
            </a:r>
            <a:r>
              <a:rPr lang="en-US" altLang="zh-CN" sz="2800" b="1" dirty="0">
                <a:latin typeface="+mj-ea"/>
                <a:ea typeface="+mj-ea"/>
              </a:rPr>
              <a:t>=3          d.</a:t>
            </a:r>
            <a:r>
              <a:rPr lang="en-US" altLang="zh-CN" sz="2800" b="1" i="1" dirty="0">
                <a:ea typeface="黑体" pitchFamily="49" charset="-122"/>
              </a:rPr>
              <a:t> D </a:t>
            </a:r>
            <a:r>
              <a:rPr lang="en-US" altLang="zh-CN" sz="2800" b="1" dirty="0">
                <a:latin typeface="+mj-ea"/>
                <a:ea typeface="+mj-ea"/>
              </a:rPr>
              <a:t>=4</a:t>
            </a:r>
            <a:endParaRPr lang="zh-CN" altLang="en-US" sz="2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Line 3"/>
          <p:cNvSpPr>
            <a:spLocks noChangeShapeType="1"/>
          </p:cNvSpPr>
          <p:nvPr/>
        </p:nvSpPr>
        <p:spPr bwMode="auto">
          <a:xfrm flipH="1">
            <a:off x="8208964" y="1343027"/>
            <a:ext cx="1238250" cy="23891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D306D22-A98D-4DBD-B7AC-22F8437CDDB1}"/>
              </a:ext>
            </a:extLst>
          </p:cNvPr>
          <p:cNvGrpSpPr/>
          <p:nvPr/>
        </p:nvGrpSpPr>
        <p:grpSpPr>
          <a:xfrm>
            <a:off x="7934328" y="3359151"/>
            <a:ext cx="2262187" cy="842962"/>
            <a:chOff x="7934328" y="3359151"/>
            <a:chExt cx="2262187" cy="842962"/>
          </a:xfrm>
        </p:grpSpPr>
        <p:pic>
          <p:nvPicPr>
            <p:cNvPr id="40964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934328" y="3719513"/>
              <a:ext cx="2262187" cy="482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5" name="Oval 5"/>
            <p:cNvSpPr>
              <a:spLocks noChangeArrowheads="1"/>
            </p:cNvSpPr>
            <p:nvPr/>
          </p:nvSpPr>
          <p:spPr bwMode="auto">
            <a:xfrm>
              <a:off x="8247064" y="3359151"/>
              <a:ext cx="192088" cy="220662"/>
            </a:xfrm>
            <a:prstGeom prst="ellipse">
              <a:avLst/>
            </a:prstGeom>
            <a:solidFill>
              <a:srgbClr val="99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58" name="Rectangle 6"/>
          <p:cNvSpPr>
            <a:spLocks noGrp="1" noChangeArrowheads="1"/>
          </p:cNvSpPr>
          <p:nvPr>
            <p:ph type="title"/>
          </p:nvPr>
        </p:nvSpPr>
        <p:spPr>
          <a:xfrm>
            <a:off x="1247753" y="279401"/>
            <a:ext cx="3124200" cy="533400"/>
          </a:xfrm>
        </p:spPr>
        <p:txBody>
          <a:bodyPr/>
          <a:lstStyle/>
          <a:p>
            <a:pPr algn="l" eaLnBrk="1" hangingPunct="1"/>
            <a:r>
              <a:rPr lang="zh-CN" altLang="zh-CN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2. </a:t>
            </a:r>
            <a:r>
              <a:rPr lang="zh-CN" altLang="en-US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对称式方程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CC89CDB-9583-4823-911D-D0DF789A9E22}"/>
              </a:ext>
            </a:extLst>
          </p:cNvPr>
          <p:cNvGrpSpPr/>
          <p:nvPr/>
        </p:nvGrpSpPr>
        <p:grpSpPr>
          <a:xfrm>
            <a:off x="1314454" y="3065464"/>
            <a:ext cx="5518147" cy="1066800"/>
            <a:chOff x="1319217" y="2938463"/>
            <a:chExt cx="5518147" cy="1066800"/>
          </a:xfrm>
        </p:grpSpPr>
        <p:sp>
          <p:nvSpPr>
            <p:cNvPr id="23554" name="Rectangle 2"/>
            <p:cNvSpPr>
              <a:spLocks noChangeArrowheads="1"/>
            </p:cNvSpPr>
            <p:nvPr/>
          </p:nvSpPr>
          <p:spPr bwMode="auto">
            <a:xfrm>
              <a:off x="2722564" y="2938463"/>
              <a:ext cx="4114800" cy="10668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9" name="Text Box 7"/>
            <p:cNvSpPr txBox="1">
              <a:spLocks noChangeArrowheads="1"/>
            </p:cNvSpPr>
            <p:nvPr/>
          </p:nvSpPr>
          <p:spPr bwMode="auto">
            <a:xfrm>
              <a:off x="1319217" y="3309928"/>
              <a:ext cx="99060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itchFamily="18" charset="0"/>
                  <a:ea typeface="黑体" pitchFamily="2" charset="-122"/>
                </a:rPr>
                <a:t>故有</a:t>
              </a:r>
            </a:p>
          </p:txBody>
        </p:sp>
        <p:pic>
          <p:nvPicPr>
            <p:cNvPr id="23561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79727" y="2995613"/>
              <a:ext cx="1117600" cy="889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68" name="Picture 1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978277" y="3009901"/>
              <a:ext cx="1308100" cy="889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69" name="Picture 1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376864" y="3001963"/>
              <a:ext cx="1308100" cy="965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1309690" y="4253717"/>
            <a:ext cx="7848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此式称为直线的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对称式方程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(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也称为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点向式方程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)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9D63A00-8ECC-4E0E-BBA9-D7AFCC1DC677}"/>
              </a:ext>
            </a:extLst>
          </p:cNvPr>
          <p:cNvGrpSpPr/>
          <p:nvPr/>
        </p:nvGrpSpPr>
        <p:grpSpPr>
          <a:xfrm>
            <a:off x="9047164" y="1508127"/>
            <a:ext cx="528638" cy="771524"/>
            <a:chOff x="9047164" y="1508127"/>
            <a:chExt cx="528638" cy="771524"/>
          </a:xfrm>
        </p:grpSpPr>
        <p:sp>
          <p:nvSpPr>
            <p:cNvPr id="40978" name="Line 20"/>
            <p:cNvSpPr>
              <a:spLocks noChangeShapeType="1"/>
            </p:cNvSpPr>
            <p:nvPr/>
          </p:nvSpPr>
          <p:spPr bwMode="auto">
            <a:xfrm flipV="1">
              <a:off x="9047164" y="1508127"/>
              <a:ext cx="306388" cy="62388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0979" name="Picture 21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302752" y="1670051"/>
              <a:ext cx="27305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8CE0907-B52D-4638-97C5-D70D6E12AF11}"/>
              </a:ext>
            </a:extLst>
          </p:cNvPr>
          <p:cNvGrpSpPr/>
          <p:nvPr/>
        </p:nvGrpSpPr>
        <p:grpSpPr>
          <a:xfrm>
            <a:off x="1238252" y="839789"/>
            <a:ext cx="4800601" cy="525462"/>
            <a:chOff x="1238252" y="839789"/>
            <a:chExt cx="4800601" cy="525462"/>
          </a:xfrm>
        </p:grpSpPr>
        <p:sp>
          <p:nvSpPr>
            <p:cNvPr id="23574" name="Text Box 22"/>
            <p:cNvSpPr txBox="1">
              <a:spLocks noChangeArrowheads="1"/>
            </p:cNvSpPr>
            <p:nvPr/>
          </p:nvSpPr>
          <p:spPr bwMode="auto">
            <a:xfrm>
              <a:off x="1238252" y="839789"/>
              <a:ext cx="2971801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 dirty="0">
                  <a:latin typeface="Times New Roman" pitchFamily="18" charset="0"/>
                  <a:ea typeface="黑体" pitchFamily="2" charset="-122"/>
                </a:rPr>
                <a:t>已知直线上一点</a:t>
              </a:r>
            </a:p>
          </p:txBody>
        </p:sp>
        <p:pic>
          <p:nvPicPr>
            <p:cNvPr id="23575" name="Picture 23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894140" y="908051"/>
              <a:ext cx="21447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58CDC2E-A3A8-4B19-838D-9A0CA3247AEB}"/>
              </a:ext>
            </a:extLst>
          </p:cNvPr>
          <p:cNvGrpSpPr/>
          <p:nvPr/>
        </p:nvGrpSpPr>
        <p:grpSpPr>
          <a:xfrm>
            <a:off x="1264446" y="1931198"/>
            <a:ext cx="4557712" cy="520699"/>
            <a:chOff x="1504952" y="1903414"/>
            <a:chExt cx="4557712" cy="520699"/>
          </a:xfrm>
        </p:grpSpPr>
        <p:sp>
          <p:nvSpPr>
            <p:cNvPr id="23563" name="Text Box 11"/>
            <p:cNvSpPr txBox="1">
              <a:spLocks noChangeArrowheads="1"/>
            </p:cNvSpPr>
            <p:nvPr/>
          </p:nvSpPr>
          <p:spPr bwMode="auto">
            <a:xfrm>
              <a:off x="1504952" y="1903414"/>
              <a:ext cx="3276600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 dirty="0">
                  <a:latin typeface="Times New Roman" pitchFamily="18" charset="0"/>
                  <a:ea typeface="黑体" pitchFamily="2" charset="-122"/>
                </a:rPr>
                <a:t>设直线上的动点为 </a:t>
              </a:r>
            </a:p>
          </p:txBody>
        </p:sp>
        <p:pic>
          <p:nvPicPr>
            <p:cNvPr id="23576" name="Picture 24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437064" y="2017713"/>
              <a:ext cx="1625600" cy="40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1309690" y="1343027"/>
            <a:ext cx="4968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如何求直线的方程？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6B085C2-AF90-43F5-9729-6EB7C74C3986}"/>
              </a:ext>
            </a:extLst>
          </p:cNvPr>
          <p:cNvGrpSpPr/>
          <p:nvPr/>
        </p:nvGrpSpPr>
        <p:grpSpPr>
          <a:xfrm>
            <a:off x="1309690" y="2577305"/>
            <a:ext cx="2354263" cy="539749"/>
            <a:chOff x="1309690" y="2577305"/>
            <a:chExt cx="2354263" cy="539749"/>
          </a:xfrm>
        </p:grpSpPr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2139953" y="2577305"/>
              <a:ext cx="1524000" cy="463550"/>
              <a:chOff x="0" y="0"/>
              <a:chExt cx="960" cy="292"/>
            </a:xfrm>
          </p:grpSpPr>
          <p:sp>
            <p:nvSpPr>
              <p:cNvPr id="41001" name="Line 33"/>
              <p:cNvSpPr>
                <a:spLocks noChangeShapeType="1"/>
              </p:cNvSpPr>
              <p:nvPr/>
            </p:nvSpPr>
            <p:spPr bwMode="auto">
              <a:xfrm>
                <a:off x="48" y="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41002" name="Line 34"/>
              <p:cNvSpPr>
                <a:spLocks noChangeShapeType="1"/>
              </p:cNvSpPr>
              <p:nvPr/>
            </p:nvSpPr>
            <p:spPr bwMode="auto">
              <a:xfrm>
                <a:off x="816" y="23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EA6E7CE-F49F-49B4-B399-CF6B8891D5DC}"/>
                </a:ext>
              </a:extLst>
            </p:cNvPr>
            <p:cNvGrpSpPr/>
            <p:nvPr/>
          </p:nvGrpSpPr>
          <p:grpSpPr>
            <a:xfrm>
              <a:off x="1309690" y="2597942"/>
              <a:ext cx="2289969" cy="519112"/>
              <a:chOff x="1309690" y="2597942"/>
              <a:chExt cx="2289969" cy="519112"/>
            </a:xfrm>
          </p:grpSpPr>
          <p:sp>
            <p:nvSpPr>
              <p:cNvPr id="23564" name="Text Box 12"/>
              <p:cNvSpPr txBox="1">
                <a:spLocks noChangeArrowheads="1"/>
              </p:cNvSpPr>
              <p:nvPr/>
            </p:nvSpPr>
            <p:spPr bwMode="auto">
              <a:xfrm>
                <a:off x="1309690" y="2597942"/>
                <a:ext cx="1066800" cy="5191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zh-CN" altLang="en-US" sz="2800" b="1" dirty="0">
                    <a:latin typeface="Times New Roman" pitchFamily="18" charset="0"/>
                    <a:ea typeface="黑体" pitchFamily="2" charset="-122"/>
                  </a:rPr>
                  <a:t>则</a:t>
                </a:r>
              </a:p>
            </p:txBody>
          </p:sp>
          <p:pic>
            <p:nvPicPr>
              <p:cNvPr id="23584" name="Picture 32"/>
              <p:cNvPicPr>
                <a:picLocks noChangeAspect="1" noChangeArrowheads="1"/>
              </p:cNvPicPr>
              <p:nvPr/>
            </p:nvPicPr>
            <p:blipFill>
              <a:blip r:embed="rId11">
                <a:grayscl/>
                <a:biLevel thresh="50000"/>
              </a:blip>
              <a:srcRect/>
              <a:stretch>
                <a:fillRect/>
              </a:stretch>
            </p:blipFill>
            <p:spPr bwMode="auto">
              <a:xfrm>
                <a:off x="2126459" y="2658265"/>
                <a:ext cx="14732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9BE0554-1888-4571-AAD8-381489F34E71}"/>
              </a:ext>
            </a:extLst>
          </p:cNvPr>
          <p:cNvGrpSpPr/>
          <p:nvPr/>
        </p:nvGrpSpPr>
        <p:grpSpPr>
          <a:xfrm>
            <a:off x="5962652" y="892177"/>
            <a:ext cx="4443412" cy="523875"/>
            <a:chOff x="5962652" y="892177"/>
            <a:chExt cx="4443412" cy="523875"/>
          </a:xfrm>
        </p:grpSpPr>
        <p:sp>
          <p:nvSpPr>
            <p:cNvPr id="23579" name="Text Box 27"/>
            <p:cNvSpPr txBox="1">
              <a:spLocks noChangeArrowheads="1"/>
            </p:cNvSpPr>
            <p:nvPr/>
          </p:nvSpPr>
          <p:spPr bwMode="auto">
            <a:xfrm>
              <a:off x="5962652" y="892177"/>
              <a:ext cx="243840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latin typeface="Times New Roman" pitchFamily="18" charset="0"/>
                  <a:ea typeface="黑体" pitchFamily="2" charset="-122"/>
                </a:rPr>
                <a:t>及其方向向量 </a:t>
              </a:r>
              <a:endParaRPr lang="zh-CN" altLang="en-US" sz="32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endParaRPr>
            </a:p>
          </p:txBody>
        </p:sp>
        <p:grpSp>
          <p:nvGrpSpPr>
            <p:cNvPr id="3" name="Group 28"/>
            <p:cNvGrpSpPr>
              <a:grpSpLocks/>
            </p:cNvGrpSpPr>
            <p:nvPr/>
          </p:nvGrpSpPr>
          <p:grpSpPr bwMode="auto">
            <a:xfrm>
              <a:off x="8223252" y="936626"/>
              <a:ext cx="2182812" cy="406400"/>
              <a:chOff x="0" y="0"/>
              <a:chExt cx="1375" cy="256"/>
            </a:xfrm>
          </p:grpSpPr>
          <p:sp>
            <p:nvSpPr>
              <p:cNvPr id="41003" name="Line 30"/>
              <p:cNvSpPr>
                <a:spLocks noChangeShapeType="1"/>
              </p:cNvSpPr>
              <p:nvPr/>
            </p:nvSpPr>
            <p:spPr bwMode="auto">
              <a:xfrm>
                <a:off x="42" y="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pic>
          <p:nvPicPr>
            <p:cNvPr id="23581" name="Picture 29"/>
            <p:cNvPicPr>
              <a:picLocks noChangeAspect="1" noChangeArrowheads="1"/>
            </p:cNvPicPr>
            <p:nvPr/>
          </p:nvPicPr>
          <p:blipFill>
            <a:blip r:embed="rId12">
              <a:grayscl/>
              <a:biLevel thresh="50000"/>
            </a:blip>
            <a:srcRect/>
            <a:stretch>
              <a:fillRect/>
            </a:stretch>
          </p:blipFill>
          <p:spPr bwMode="auto">
            <a:xfrm>
              <a:off x="8223252" y="936626"/>
              <a:ext cx="2182812" cy="40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751F3EB-D64C-4EAC-9C58-6C60FF08AE9B}"/>
              </a:ext>
            </a:extLst>
          </p:cNvPr>
          <p:cNvGrpSpPr/>
          <p:nvPr/>
        </p:nvGrpSpPr>
        <p:grpSpPr>
          <a:xfrm>
            <a:off x="8582028" y="2566988"/>
            <a:ext cx="1836737" cy="698501"/>
            <a:chOff x="8582028" y="2566988"/>
            <a:chExt cx="1836737" cy="698501"/>
          </a:xfrm>
        </p:grpSpPr>
        <p:grpSp>
          <p:nvGrpSpPr>
            <p:cNvPr id="2" name="Group 13"/>
            <p:cNvGrpSpPr>
              <a:grpSpLocks/>
            </p:cNvGrpSpPr>
            <p:nvPr/>
          </p:nvGrpSpPr>
          <p:grpSpPr bwMode="auto">
            <a:xfrm>
              <a:off x="8655052" y="2566988"/>
              <a:ext cx="215900" cy="215900"/>
              <a:chOff x="591" y="226"/>
              <a:chExt cx="42" cy="28"/>
            </a:xfrm>
          </p:grpSpPr>
          <p:sp>
            <p:nvSpPr>
              <p:cNvPr id="41004" name="Oval 15"/>
              <p:cNvSpPr>
                <a:spLocks noChangeArrowheads="1"/>
              </p:cNvSpPr>
              <p:nvPr/>
            </p:nvSpPr>
            <p:spPr bwMode="auto">
              <a:xfrm>
                <a:off x="591" y="226"/>
                <a:ext cx="42" cy="28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80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23566" name="Picture 14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8582028" y="2855914"/>
              <a:ext cx="1836737" cy="40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9569191-852F-4A46-B763-7DEDE38D50B9}"/>
              </a:ext>
            </a:extLst>
          </p:cNvPr>
          <p:cNvGrpSpPr/>
          <p:nvPr/>
        </p:nvGrpSpPr>
        <p:grpSpPr>
          <a:xfrm>
            <a:off x="1257304" y="4904572"/>
            <a:ext cx="8486619" cy="954107"/>
            <a:chOff x="1631923" y="4718060"/>
            <a:chExt cx="8486619" cy="954107"/>
          </a:xfrm>
        </p:grpSpPr>
        <p:sp>
          <p:nvSpPr>
            <p:cNvPr id="45" name="TextBox 44"/>
            <p:cNvSpPr txBox="1"/>
            <p:nvPr/>
          </p:nvSpPr>
          <p:spPr>
            <a:xfrm>
              <a:off x="1631923" y="4718060"/>
              <a:ext cx="848661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其中        称为直线的方向数，方向向量的余弦称</a:t>
              </a:r>
              <a:endParaRPr lang="en-US" altLang="zh-CN" sz="2800" b="1" dirty="0">
                <a:latin typeface="黑体" pitchFamily="49" charset="-122"/>
                <a:ea typeface="黑体" pitchFamily="49" charset="-122"/>
              </a:endParaRPr>
            </a:p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为方向余弦。</a:t>
              </a:r>
            </a:p>
          </p:txBody>
        </p:sp>
        <p:graphicFrame>
          <p:nvGraphicFramePr>
            <p:cNvPr id="2254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4808"/>
                </p:ext>
              </p:extLst>
            </p:nvPr>
          </p:nvGraphicFramePr>
          <p:xfrm>
            <a:off x="2578103" y="4772829"/>
            <a:ext cx="1316037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" name="Equation" r:id="rId14" imgW="444240" imgH="164880" progId="Equation.DSMT4">
                    <p:embed/>
                  </p:oleObj>
                </mc:Choice>
                <mc:Fallback>
                  <p:oleObj name="Equation" r:id="rId14" imgW="444240" imgH="164880" progId="Equation.DSMT4">
                    <p:embed/>
                    <p:pic>
                      <p:nvPicPr>
                        <p:cNvPr id="2254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103" y="4772829"/>
                          <a:ext cx="1316037" cy="411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nimBg="1"/>
      <p:bldP spid="23570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123922" y="661968"/>
            <a:ext cx="7086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说明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: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某些分母为零时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,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其分子也理解为零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.</a:t>
            </a: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51147" y="2157394"/>
            <a:ext cx="12319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5572097" y="1412856"/>
            <a:ext cx="2286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直线方程为</a:t>
            </a:r>
          </a:p>
        </p:txBody>
      </p:sp>
      <p:sp>
        <p:nvSpPr>
          <p:cNvPr id="7" name="Text Box 25"/>
          <p:cNvSpPr txBox="1">
            <a:spLocks noChangeArrowheads="1"/>
          </p:cNvSpPr>
          <p:nvPr/>
        </p:nvSpPr>
        <p:spPr bwMode="auto">
          <a:xfrm>
            <a:off x="1228697" y="1412856"/>
            <a:ext cx="152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例如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, </a:t>
            </a: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当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36797" y="1444606"/>
            <a:ext cx="30226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698749" y="3048001"/>
            <a:ext cx="2590800" cy="1828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" name="Rectangle 3"/>
          <p:cNvSpPr>
            <a:spLocks noGrp="1" noChangeArrowheads="1"/>
          </p:cNvSpPr>
          <p:nvPr>
            <p:ph type="title"/>
          </p:nvPr>
        </p:nvSpPr>
        <p:spPr>
          <a:xfrm>
            <a:off x="1243013" y="532210"/>
            <a:ext cx="2895600" cy="609600"/>
          </a:xfrm>
        </p:spPr>
        <p:txBody>
          <a:bodyPr/>
          <a:lstStyle/>
          <a:p>
            <a:pPr eaLnBrk="1" hangingPunct="1"/>
            <a:r>
              <a:rPr lang="zh-CN" altLang="zh-CN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3. </a:t>
            </a:r>
            <a:r>
              <a:rPr lang="zh-CN" altLang="en-US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参数式方程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504949" y="1475185"/>
            <a:ext cx="83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设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504949" y="2469357"/>
            <a:ext cx="2819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得参数式方程 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: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330288"/>
              </p:ext>
            </p:extLst>
          </p:nvPr>
        </p:nvGraphicFramePr>
        <p:xfrm>
          <a:off x="2098675" y="1287860"/>
          <a:ext cx="4365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" r:id="rId3" imgW="4369117" imgH="965517" progId="Equation.3">
                  <p:embed/>
                </p:oleObj>
              </mc:Choice>
              <mc:Fallback>
                <p:oleObj r:id="rId3" imgW="4369117" imgH="965517" progId="Equation.3">
                  <p:embed/>
                  <p:pic>
                    <p:nvPicPr>
                      <p:cNvPr id="24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1287860"/>
                        <a:ext cx="4365625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880577"/>
              </p:ext>
            </p:extLst>
          </p:nvPr>
        </p:nvGraphicFramePr>
        <p:xfrm>
          <a:off x="3236912" y="3130549"/>
          <a:ext cx="1879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r:id="rId5" imgW="1879917" imgH="457517" progId="Equation.3">
                  <p:embed/>
                </p:oleObj>
              </mc:Choice>
              <mc:Fallback>
                <p:oleObj r:id="rId5" imgW="1879917" imgH="457517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2" y="3130549"/>
                        <a:ext cx="1879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006600">
                                    <a:gamma/>
                                    <a:shade val="46275"/>
                                    <a:invGamma/>
                                  </a:srgbClr>
                                </a:gs>
                                <a:gs pos="50000">
                                  <a:srgbClr val="006600"/>
                                </a:gs>
                                <a:gs pos="100000">
                                  <a:srgbClr val="006600">
                                    <a:gamma/>
                                    <a:shade val="46275"/>
                                    <a:invGamma/>
                                  </a:srgbClr>
                                </a:gs>
                              </a:gsLst>
                              <a:lin ang="0" scaled="1"/>
                            </a:gra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272755"/>
              </p:ext>
            </p:extLst>
          </p:nvPr>
        </p:nvGraphicFramePr>
        <p:xfrm>
          <a:off x="3244849" y="3684982"/>
          <a:ext cx="1765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" r:id="rId7" imgW="1765617" imgH="457517" progId="Equation.3">
                  <p:embed/>
                </p:oleObj>
              </mc:Choice>
              <mc:Fallback>
                <p:oleObj r:id="rId7" imgW="1765617" imgH="457517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49" y="3684982"/>
                        <a:ext cx="1765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006600">
                                    <a:gamma/>
                                    <a:shade val="46275"/>
                                    <a:invGamma/>
                                  </a:srgbClr>
                                </a:gs>
                                <a:gs pos="50000">
                                  <a:srgbClr val="006600"/>
                                </a:gs>
                                <a:gs pos="100000">
                                  <a:srgbClr val="006600">
                                    <a:gamma/>
                                    <a:shade val="46275"/>
                                    <a:invGamma/>
                                  </a:srgbClr>
                                </a:gs>
                              </a:gsLst>
                              <a:lin ang="0" scaled="1"/>
                            </a:gra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090386"/>
              </p:ext>
            </p:extLst>
          </p:nvPr>
        </p:nvGraphicFramePr>
        <p:xfrm>
          <a:off x="3282949" y="4302126"/>
          <a:ext cx="1689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" r:id="rId9" imgW="1689417" imgH="457517" progId="Equation.3">
                  <p:embed/>
                </p:oleObj>
              </mc:Choice>
              <mc:Fallback>
                <p:oleObj r:id="rId9" imgW="1689417" imgH="457517" progId="Equation.3">
                  <p:embed/>
                  <p:pic>
                    <p:nvPicPr>
                      <p:cNvPr id="245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49" y="4302126"/>
                        <a:ext cx="16891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006600">
                                    <a:gamma/>
                                    <a:shade val="46275"/>
                                    <a:invGamma/>
                                  </a:srgbClr>
                                </a:gs>
                                <a:gs pos="50000">
                                  <a:srgbClr val="006600"/>
                                </a:gs>
                                <a:gs pos="100000">
                                  <a:srgbClr val="006600">
                                    <a:gamma/>
                                    <a:shade val="46275"/>
                                    <a:invGamma/>
                                  </a:srgbClr>
                                </a:gs>
                              </a:gsLst>
                              <a:lin ang="0" scaled="1"/>
                            </a:gra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AutoShape 10"/>
          <p:cNvSpPr>
            <a:spLocks/>
          </p:cNvSpPr>
          <p:nvPr/>
        </p:nvSpPr>
        <p:spPr bwMode="auto">
          <a:xfrm>
            <a:off x="2914649" y="3276601"/>
            <a:ext cx="241300" cy="1447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C2ECED-EA4A-417B-94E9-22B5035FF317}"/>
              </a:ext>
            </a:extLst>
          </p:cNvPr>
          <p:cNvSpPr txBox="1"/>
          <p:nvPr/>
        </p:nvSpPr>
        <p:spPr>
          <a:xfrm>
            <a:off x="5643563" y="3618962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j-ea"/>
                <a:ea typeface="+mj-ea"/>
              </a:rPr>
              <a:t>称为直线的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参数方程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/>
      <p:bldP spid="24580" grpId="0" autoUpdateAnimBg="0"/>
      <p:bldP spid="24581" grpId="0" autoUpdateAnimBg="0"/>
      <p:bldP spid="24586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5762"/>
            <a:ext cx="6172200" cy="685800"/>
          </a:xfrm>
        </p:spPr>
        <p:txBody>
          <a:bodyPr/>
          <a:lstStyle/>
          <a:p>
            <a:pPr algn="l" eaLnBrk="1" hangingPunct="1"/>
            <a:r>
              <a:rPr lang="zh-CN" altLang="en-US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例</a:t>
            </a:r>
            <a:r>
              <a:rPr lang="zh-CN" altLang="zh-CN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1.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用对称式及参数式表示直线</a:t>
            </a:r>
            <a:endParaRPr lang="zh-CN" altLang="en-US" sz="2800" dirty="0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319213" y="2003426"/>
            <a:ext cx="434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解</a:t>
            </a:r>
            <a:r>
              <a:rPr lang="zh-CN" altLang="zh-CN" sz="2800" b="1" dirty="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:</a:t>
            </a:r>
            <a:r>
              <a:rPr lang="zh-CN" altLang="en-US" sz="2800" b="1" dirty="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先在直线上找一点</a:t>
            </a:r>
            <a:r>
              <a:rPr lang="zh-CN" altLang="zh-CN" sz="2800" b="1" dirty="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.</a:t>
            </a:r>
          </a:p>
        </p:txBody>
      </p:sp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3708401" y="933450"/>
          <a:ext cx="30972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1" r:id="rId3" imgW="3097773" imgH="1041265" progId="Equation.3">
                  <p:embed/>
                </p:oleObj>
              </mc:Choice>
              <mc:Fallback>
                <p:oleObj r:id="rId3" imgW="3097773" imgH="1041265" progId="Equation.3">
                  <p:embed/>
                  <p:pic>
                    <p:nvPicPr>
                      <p:cNvPr id="2457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1" y="933450"/>
                        <a:ext cx="3097213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273097"/>
              </p:ext>
            </p:extLst>
          </p:nvPr>
        </p:nvGraphicFramePr>
        <p:xfrm>
          <a:off x="4551364" y="2470151"/>
          <a:ext cx="16240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2" r:id="rId5" imgW="1625212" imgH="990487" progId="Equation.3">
                  <p:embed/>
                </p:oleObj>
              </mc:Choice>
              <mc:Fallback>
                <p:oleObj r:id="rId5" imgW="1625212" imgH="990487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4" y="2470151"/>
                        <a:ext cx="1624013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319213" y="4149726"/>
            <a:ext cx="358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再求直线的方向向量</a:t>
            </a: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366323"/>
              </p:ext>
            </p:extLst>
          </p:nvPr>
        </p:nvGraphicFramePr>
        <p:xfrm>
          <a:off x="6767513" y="2684463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3" r:id="rId7" imgW="2081311" imgH="406365" progId="Equation.3">
                  <p:embed/>
                </p:oleObj>
              </mc:Choice>
              <mc:Fallback>
                <p:oleObj r:id="rId7" imgW="2081311" imgH="406365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513" y="2684463"/>
                        <a:ext cx="2082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1362077" y="2765426"/>
            <a:ext cx="3159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令 </a:t>
            </a:r>
            <a:r>
              <a:rPr lang="zh-CN" altLang="zh-CN" sz="2800" b="1" i="1">
                <a:latin typeface="Times New Roman" pitchFamily="18" charset="0"/>
                <a:ea typeface="黑体" pitchFamily="2" charset="-122"/>
              </a:rPr>
              <a:t>x 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= 1, </a:t>
            </a: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解方程组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6119813" y="2689226"/>
            <a:ext cx="83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,</a:t>
            </a: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得</a:t>
            </a:r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1319213" y="4670426"/>
            <a:ext cx="5257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交已知直线的两平面的法向量为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3148014" y="3561558"/>
            <a:ext cx="2667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是直线上一点 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.</a:t>
            </a:r>
          </a:p>
        </p:txBody>
      </p:sp>
      <p:graphicFrame>
        <p:nvGraphicFramePr>
          <p:cNvPr id="256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885551"/>
              </p:ext>
            </p:extLst>
          </p:nvPr>
        </p:nvGraphicFramePr>
        <p:xfrm>
          <a:off x="1352552" y="3636170"/>
          <a:ext cx="18843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" r:id="rId9" imgW="1878287" imgH="406365" progId="Equation.3">
                  <p:embed/>
                </p:oleObj>
              </mc:Choice>
              <mc:Fallback>
                <p:oleObj r:id="rId9" imgW="1878287" imgH="406365" progId="Equation.3">
                  <p:embed/>
                  <p:pic>
                    <p:nvPicPr>
                      <p:cNvPr id="25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2" y="3636170"/>
                        <a:ext cx="188436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AutoShape 13"/>
          <p:cNvSpPr>
            <a:spLocks/>
          </p:cNvSpPr>
          <p:nvPr/>
        </p:nvSpPr>
        <p:spPr bwMode="auto">
          <a:xfrm>
            <a:off x="4367213" y="2551113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718052" y="4287838"/>
            <a:ext cx="333375" cy="381000"/>
            <a:chOff x="0" y="0"/>
            <a:chExt cx="210" cy="240"/>
          </a:xfrm>
        </p:grpSpPr>
        <p:graphicFrame>
          <p:nvGraphicFramePr>
            <p:cNvPr id="24586" name="Object 15"/>
            <p:cNvGraphicFramePr>
              <a:graphicFrameLocks noChangeAspect="1"/>
            </p:cNvGraphicFramePr>
            <p:nvPr/>
          </p:nvGraphicFramePr>
          <p:xfrm>
            <a:off x="0" y="39"/>
            <a:ext cx="21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5" r:id="rId11" imgW="331091" imgH="318369" progId="Equation.3">
                    <p:embed/>
                  </p:oleObj>
                </mc:Choice>
                <mc:Fallback>
                  <p:oleObj r:id="rId11" imgW="331091" imgH="318369" progId="Equation.3">
                    <p:embed/>
                    <p:pic>
                      <p:nvPicPr>
                        <p:cNvPr id="24586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9"/>
                          <a:ext cx="210" cy="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8" name="Line 16"/>
            <p:cNvSpPr>
              <a:spLocks noChangeShapeType="1"/>
            </p:cNvSpPr>
            <p:nvPr/>
          </p:nvSpPr>
          <p:spPr bwMode="auto">
            <a:xfrm>
              <a:off x="0" y="0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1338263" y="5821363"/>
            <a:ext cx="2679700" cy="457200"/>
            <a:chOff x="0" y="0"/>
            <a:chExt cx="1688" cy="288"/>
          </a:xfrm>
        </p:grpSpPr>
        <p:graphicFrame>
          <p:nvGraphicFramePr>
            <p:cNvPr id="24583" name="Object 24"/>
            <p:cNvGraphicFramePr>
              <a:graphicFrameLocks noChangeAspect="1"/>
            </p:cNvGraphicFramePr>
            <p:nvPr/>
          </p:nvGraphicFramePr>
          <p:xfrm>
            <a:off x="0" y="0"/>
            <a:ext cx="16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6" r:id="rId13" imgW="2680017" imgH="457517" progId="Equation.3">
                    <p:embed/>
                  </p:oleObj>
                </mc:Choice>
                <mc:Fallback>
                  <p:oleObj r:id="rId13" imgW="2680017" imgH="457517" progId="Equation.3">
                    <p:embed/>
                    <p:pic>
                      <p:nvPicPr>
                        <p:cNvPr id="24583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68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2" name="Line 25"/>
            <p:cNvSpPr>
              <a:spLocks noChangeShapeType="1"/>
            </p:cNvSpPr>
            <p:nvPr/>
          </p:nvSpPr>
          <p:spPr bwMode="auto">
            <a:xfrm>
              <a:off x="385" y="1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4613" name="Line 26"/>
            <p:cNvSpPr>
              <a:spLocks noChangeShapeType="1"/>
            </p:cNvSpPr>
            <p:nvPr/>
          </p:nvSpPr>
          <p:spPr bwMode="auto">
            <a:xfrm>
              <a:off x="750" y="1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4614" name="Line 27"/>
            <p:cNvSpPr>
              <a:spLocks noChangeShapeType="1"/>
            </p:cNvSpPr>
            <p:nvPr/>
          </p:nvSpPr>
          <p:spPr bwMode="auto">
            <a:xfrm>
              <a:off x="1076" y="1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4615" name="Line 28"/>
            <p:cNvSpPr>
              <a:spLocks noChangeShapeType="1"/>
            </p:cNvSpPr>
            <p:nvPr/>
          </p:nvSpPr>
          <p:spPr bwMode="auto">
            <a:xfrm>
              <a:off x="1445" y="1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4481514" y="5808663"/>
            <a:ext cx="2132013" cy="457200"/>
            <a:chOff x="0" y="0"/>
            <a:chExt cx="1343" cy="288"/>
          </a:xfrm>
        </p:grpSpPr>
        <p:graphicFrame>
          <p:nvGraphicFramePr>
            <p:cNvPr id="24582" name="Object 30"/>
            <p:cNvGraphicFramePr>
              <a:graphicFrameLocks noChangeAspect="1"/>
            </p:cNvGraphicFramePr>
            <p:nvPr/>
          </p:nvGraphicFramePr>
          <p:xfrm>
            <a:off x="0" y="0"/>
            <a:ext cx="134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7" r:id="rId15" imgW="2133917" imgH="457517" progId="Equation.3">
                    <p:embed/>
                  </p:oleObj>
                </mc:Choice>
                <mc:Fallback>
                  <p:oleObj r:id="rId15" imgW="2133917" imgH="457517" progId="Equation.3">
                    <p:embed/>
                    <p:pic>
                      <p:nvPicPr>
                        <p:cNvPr id="24582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343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9" name="Line 31"/>
            <p:cNvSpPr>
              <a:spLocks noChangeShapeType="1"/>
            </p:cNvSpPr>
            <p:nvPr/>
          </p:nvSpPr>
          <p:spPr bwMode="auto">
            <a:xfrm>
              <a:off x="359" y="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4610" name="Line 32"/>
            <p:cNvSpPr>
              <a:spLocks noChangeShapeType="1"/>
            </p:cNvSpPr>
            <p:nvPr/>
          </p:nvSpPr>
          <p:spPr bwMode="auto">
            <a:xfrm>
              <a:off x="695" y="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4611" name="Line 33"/>
            <p:cNvSpPr>
              <a:spLocks noChangeShapeType="1"/>
            </p:cNvSpPr>
            <p:nvPr/>
          </p:nvSpPr>
          <p:spPr bwMode="auto">
            <a:xfrm>
              <a:off x="1079" y="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9CC7ED7A-F7DD-474C-98DC-0740368D97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513700"/>
              </p:ext>
            </p:extLst>
          </p:nvPr>
        </p:nvGraphicFramePr>
        <p:xfrm>
          <a:off x="2297113" y="5173665"/>
          <a:ext cx="165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" name="Equation" r:id="rId17" imgW="1650960" imgH="520560" progId="Equation.DSMT4">
                  <p:embed/>
                </p:oleObj>
              </mc:Choice>
              <mc:Fallback>
                <p:oleObj name="Equation" r:id="rId17" imgW="1650960" imgH="52056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119626BF-0D1D-4459-9863-40A0CE5DC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5173665"/>
                        <a:ext cx="165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660438C6-9F72-41AB-986C-BAA62A336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870658"/>
              </p:ext>
            </p:extLst>
          </p:nvPr>
        </p:nvGraphicFramePr>
        <p:xfrm>
          <a:off x="4513263" y="5213350"/>
          <a:ext cx="1955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" name="Equation" r:id="rId19" imgW="1955520" imgH="520560" progId="Equation.DSMT4">
                  <p:embed/>
                </p:oleObj>
              </mc:Choice>
              <mc:Fallback>
                <p:oleObj name="Equation" r:id="rId19" imgW="1955520" imgH="520560" progId="Equation.DSMT4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9CC7ED7A-F7DD-474C-98DC-0740368D9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5213350"/>
                        <a:ext cx="1955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06" grpId="0" autoUpdateAnimBg="0"/>
      <p:bldP spid="25608" grpId="0" autoUpdateAnimBg="0"/>
      <p:bldP spid="25609" grpId="0" autoUpdateAnimBg="0"/>
      <p:bldP spid="25610" grpId="0" autoUpdateAnimBg="0"/>
      <p:bldP spid="25611" grpId="0" autoUpdateAnimBg="0"/>
      <p:bldP spid="256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573213" y="2324101"/>
            <a:ext cx="47609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故所给直线的对称式方程为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495425" y="3467101"/>
            <a:ext cx="2667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参数式方程为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15167"/>
              </p:ext>
            </p:extLst>
          </p:nvPr>
        </p:nvGraphicFramePr>
        <p:xfrm>
          <a:off x="3857625" y="2971800"/>
          <a:ext cx="20193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0" r:id="rId3" imgW="2019617" imgH="1625917" progId="Equation.3">
                  <p:embed/>
                </p:oleObj>
              </mc:Choice>
              <mc:Fallback>
                <p:oleObj r:id="rId3" imgW="2019617" imgH="1625917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2971800"/>
                        <a:ext cx="20193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371567"/>
              </p:ext>
            </p:extLst>
          </p:nvPr>
        </p:nvGraphicFramePr>
        <p:xfrm>
          <a:off x="8950325" y="2463800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r:id="rId5" imgW="433056" imgH="280325" progId="Equation.3">
                  <p:embed/>
                </p:oleObj>
              </mc:Choice>
              <mc:Fallback>
                <p:oleObj r:id="rId5" imgW="433056" imgH="280325" progId="Equation.3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0325" y="2463800"/>
                        <a:ext cx="431800" cy="279400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8924925" y="2362200"/>
            <a:ext cx="685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699254"/>
              </p:ext>
            </p:extLst>
          </p:nvPr>
        </p:nvGraphicFramePr>
        <p:xfrm>
          <a:off x="6018213" y="2152650"/>
          <a:ext cx="800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" r:id="rId7" imgW="801112" imgH="890089" progId="Equation.3">
                  <p:embed/>
                </p:oleObj>
              </mc:Choice>
              <mc:Fallback>
                <p:oleObj r:id="rId7" imgW="801112" imgH="890089" progId="Equation.3">
                  <p:embed/>
                  <p:pic>
                    <p:nvPicPr>
                      <p:cNvPr id="266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13" y="2152650"/>
                        <a:ext cx="8001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839693"/>
              </p:ext>
            </p:extLst>
          </p:nvPr>
        </p:nvGraphicFramePr>
        <p:xfrm>
          <a:off x="6831013" y="2152650"/>
          <a:ext cx="812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" r:id="rId9" imgW="813823" imgH="890089" progId="Equation.3">
                  <p:embed/>
                </p:oleObj>
              </mc:Choice>
              <mc:Fallback>
                <p:oleObj r:id="rId9" imgW="813823" imgH="890089" progId="Equation.3">
                  <p:embed/>
                  <p:pic>
                    <p:nvPicPr>
                      <p:cNvPr id="266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1013" y="2152650"/>
                        <a:ext cx="8128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450101"/>
              </p:ext>
            </p:extLst>
          </p:nvPr>
        </p:nvGraphicFramePr>
        <p:xfrm>
          <a:off x="7623175" y="2155825"/>
          <a:ext cx="1092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" r:id="rId11" imgW="1093466" imgH="890089" progId="Equation.3">
                  <p:embed/>
                </p:oleObj>
              </mc:Choice>
              <mc:Fallback>
                <p:oleObj r:id="rId11" imgW="1093466" imgH="890089" progId="Equation.3">
                  <p:embed/>
                  <p:pic>
                    <p:nvPicPr>
                      <p:cNvPr id="266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175" y="2155825"/>
                        <a:ext cx="10922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1533525" y="4686301"/>
            <a:ext cx="1981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解题思路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: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3209925" y="4686301"/>
            <a:ext cx="3200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先找直线上一点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;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3209925" y="5500688"/>
            <a:ext cx="4038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再找直线的方向向量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.</a:t>
            </a:r>
          </a:p>
        </p:txBody>
      </p:sp>
      <p:sp>
        <p:nvSpPr>
          <p:cNvPr id="25616" name="Line 13"/>
          <p:cNvSpPr>
            <a:spLocks noChangeShapeType="1"/>
          </p:cNvSpPr>
          <p:nvPr/>
        </p:nvSpPr>
        <p:spPr bwMode="auto">
          <a:xfrm flipV="1">
            <a:off x="923925" y="3162300"/>
            <a:ext cx="533400" cy="7620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5617" name="Line 14"/>
          <p:cNvSpPr>
            <a:spLocks noChangeShapeType="1"/>
          </p:cNvSpPr>
          <p:nvPr/>
        </p:nvSpPr>
        <p:spPr bwMode="auto">
          <a:xfrm>
            <a:off x="923925" y="2857500"/>
            <a:ext cx="8915400" cy="7620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695451" y="1097757"/>
            <a:ext cx="1547813" cy="457200"/>
            <a:chOff x="0" y="0"/>
            <a:chExt cx="975" cy="288"/>
          </a:xfrm>
        </p:grpSpPr>
        <p:graphicFrame>
          <p:nvGraphicFramePr>
            <p:cNvPr id="25609" name="Object 17"/>
            <p:cNvGraphicFramePr>
              <a:graphicFrameLocks noChangeAspect="1"/>
            </p:cNvGraphicFramePr>
            <p:nvPr/>
          </p:nvGraphicFramePr>
          <p:xfrm>
            <a:off x="0" y="0"/>
            <a:ext cx="97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5" r:id="rId13" imgW="1549717" imgH="457517" progId="Equation.3">
                    <p:embed/>
                  </p:oleObj>
                </mc:Choice>
                <mc:Fallback>
                  <p:oleObj r:id="rId13" imgW="1549717" imgH="457517" progId="Equation.3">
                    <p:embed/>
                    <p:pic>
                      <p:nvPicPr>
                        <p:cNvPr id="2560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975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2" name="Line 18"/>
            <p:cNvSpPr>
              <a:spLocks noChangeShapeType="1"/>
            </p:cNvSpPr>
            <p:nvPr/>
          </p:nvSpPr>
          <p:spPr bwMode="auto">
            <a:xfrm>
              <a:off x="19" y="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5633" name="Line 19"/>
            <p:cNvSpPr>
              <a:spLocks noChangeShapeType="1"/>
            </p:cNvSpPr>
            <p:nvPr/>
          </p:nvSpPr>
          <p:spPr bwMode="auto">
            <a:xfrm>
              <a:off x="355" y="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5634" name="Line 20"/>
            <p:cNvSpPr>
              <a:spLocks noChangeShapeType="1"/>
            </p:cNvSpPr>
            <p:nvPr/>
          </p:nvSpPr>
          <p:spPr bwMode="auto">
            <a:xfrm>
              <a:off x="739" y="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171825" y="519907"/>
            <a:ext cx="2324100" cy="1625600"/>
            <a:chOff x="0" y="0"/>
            <a:chExt cx="1464" cy="1024"/>
          </a:xfrm>
        </p:grpSpPr>
        <p:graphicFrame>
          <p:nvGraphicFramePr>
            <p:cNvPr id="25608" name="Object 22"/>
            <p:cNvGraphicFramePr>
              <a:graphicFrameLocks noChangeAspect="1"/>
            </p:cNvGraphicFramePr>
            <p:nvPr/>
          </p:nvGraphicFramePr>
          <p:xfrm>
            <a:off x="0" y="0"/>
            <a:ext cx="1464" cy="1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6" r:id="rId15" imgW="2324417" imgH="1625917" progId="Equation.3">
                    <p:embed/>
                  </p:oleObj>
                </mc:Choice>
                <mc:Fallback>
                  <p:oleObj r:id="rId15" imgW="2324417" imgH="1625917" progId="Equation.3">
                    <p:embed/>
                    <p:pic>
                      <p:nvPicPr>
                        <p:cNvPr id="25608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464" cy="10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9" name="Line 23"/>
            <p:cNvSpPr>
              <a:spLocks noChangeShapeType="1"/>
            </p:cNvSpPr>
            <p:nvPr/>
          </p:nvSpPr>
          <p:spPr bwMode="auto">
            <a:xfrm>
              <a:off x="438" y="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5630" name="Line 24"/>
            <p:cNvSpPr>
              <a:spLocks noChangeShapeType="1"/>
            </p:cNvSpPr>
            <p:nvPr/>
          </p:nvSpPr>
          <p:spPr bwMode="auto">
            <a:xfrm>
              <a:off x="752" y="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5631" name="Line 25"/>
            <p:cNvSpPr>
              <a:spLocks noChangeShapeType="1"/>
            </p:cNvSpPr>
            <p:nvPr/>
          </p:nvSpPr>
          <p:spPr bwMode="auto">
            <a:xfrm>
              <a:off x="1064" y="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480BD632-D001-4E64-A9C8-325D7CA541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867787"/>
              </p:ext>
            </p:extLst>
          </p:nvPr>
        </p:nvGraphicFramePr>
        <p:xfrm>
          <a:off x="5611811" y="1162050"/>
          <a:ext cx="1739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" name="Equation" r:id="rId17" imgW="1739880" imgH="380880" progId="Equation.DSMT4">
                  <p:embed/>
                </p:oleObj>
              </mc:Choice>
              <mc:Fallback>
                <p:oleObj name="Equation" r:id="rId17" imgW="1739880" imgH="380880" progId="Equation.DSMT4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9CC7ED7A-F7DD-474C-98DC-0740368D9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811" y="1162050"/>
                        <a:ext cx="1739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 autoUpdateAnimBg="0"/>
      <p:bldP spid="26627" grpId="0" build="p" autoUpdateAnimBg="0"/>
      <p:bldP spid="26630" grpId="0" animBg="1"/>
      <p:bldP spid="26634" grpId="0" autoUpdateAnimBg="0"/>
      <p:bldP spid="26635" grpId="0" autoUpdateAnimBg="0"/>
      <p:bldP spid="2663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45252" y="572373"/>
            <a:ext cx="84978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b="1" dirty="0">
                <a:solidFill>
                  <a:schemeClr val="accent2"/>
                </a:solidFill>
                <a:ea typeface="黑体" pitchFamily="49" charset="-122"/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：求过点          垂直于直线            ，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且平行于平面                      的直线方程。</a:t>
            </a:r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932975"/>
              </p:ext>
            </p:extLst>
          </p:nvPr>
        </p:nvGraphicFramePr>
        <p:xfrm>
          <a:off x="3702706" y="643811"/>
          <a:ext cx="1616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4" name="Equation" r:id="rId3" imgW="545760" imgH="203040" progId="Equation.DSMT4">
                  <p:embed/>
                </p:oleObj>
              </mc:Choice>
              <mc:Fallback>
                <p:oleObj name="Equation" r:id="rId3" imgW="545760" imgH="203040" progId="Equation.DSMT4">
                  <p:embed/>
                  <p:pic>
                    <p:nvPicPr>
                      <p:cNvPr id="22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706" y="643811"/>
                        <a:ext cx="16160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929326"/>
              </p:ext>
            </p:extLst>
          </p:nvPr>
        </p:nvGraphicFramePr>
        <p:xfrm>
          <a:off x="7346043" y="429496"/>
          <a:ext cx="1955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5" name="Equation" r:id="rId5" imgW="660240" imgH="393480" progId="Equation.DSMT4">
                  <p:embed/>
                </p:oleObj>
              </mc:Choice>
              <mc:Fallback>
                <p:oleObj name="Equation" r:id="rId5" imgW="660240" imgH="393480" progId="Equation.DSMT4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6043" y="429496"/>
                        <a:ext cx="19558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066918"/>
              </p:ext>
            </p:extLst>
          </p:nvPr>
        </p:nvGraphicFramePr>
        <p:xfrm>
          <a:off x="3774143" y="1501067"/>
          <a:ext cx="37973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6" name="Equation" r:id="rId7" imgW="1282680" imgH="203040" progId="Equation.DSMT4">
                  <p:embed/>
                </p:oleObj>
              </mc:Choice>
              <mc:Fallback>
                <p:oleObj name="Equation" r:id="rId7" imgW="1282680" imgH="203040" progId="Equation.DSMT4">
                  <p:embed/>
                  <p:pic>
                    <p:nvPicPr>
                      <p:cNvPr id="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4143" y="1501067"/>
                        <a:ext cx="37973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42372" y="2180512"/>
            <a:ext cx="79528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解：直线的方向向量   垂直于直线的方向向量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又垂直于平面的法向量         ，可得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328804"/>
              </p:ext>
            </p:extLst>
          </p:nvPr>
        </p:nvGraphicFramePr>
        <p:xfrm>
          <a:off x="4771396" y="2251949"/>
          <a:ext cx="3746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" name="Equation" r:id="rId9" imgW="126720" imgH="177480" progId="Equation.DSMT4">
                  <p:embed/>
                </p:oleObj>
              </mc:Choice>
              <mc:Fallback>
                <p:oleObj name="Equation" r:id="rId9" imgW="126720" imgH="177480" progId="Equation.DSMT4">
                  <p:embed/>
                  <p:pic>
                    <p:nvPicPr>
                      <p:cNvPr id="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396" y="2251949"/>
                        <a:ext cx="37465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66209"/>
              </p:ext>
            </p:extLst>
          </p:nvPr>
        </p:nvGraphicFramePr>
        <p:xfrm>
          <a:off x="1413810" y="2680578"/>
          <a:ext cx="1427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" name="Equation" r:id="rId11" imgW="482400" imgH="203040" progId="Equation.DSMT4">
                  <p:embed/>
                </p:oleObj>
              </mc:Choice>
              <mc:Fallback>
                <p:oleObj name="Equation" r:id="rId11" imgW="482400" imgH="203040" progId="Equation.DSMT4">
                  <p:embed/>
                  <p:pic>
                    <p:nvPicPr>
                      <p:cNvPr id="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810" y="2680578"/>
                        <a:ext cx="142716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722588"/>
              </p:ext>
            </p:extLst>
          </p:nvPr>
        </p:nvGraphicFramePr>
        <p:xfrm>
          <a:off x="6653213" y="2681288"/>
          <a:ext cx="1427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" name="Equation" r:id="rId13" imgW="482400" imgH="203040" progId="Equation.DSMT4">
                  <p:embed/>
                </p:oleObj>
              </mc:Choice>
              <mc:Fallback>
                <p:oleObj name="Equation" r:id="rId13" imgW="482400" imgH="203040" progId="Equation.DSMT4">
                  <p:embed/>
                  <p:pic>
                    <p:nvPicPr>
                      <p:cNvPr id="1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13" y="2681288"/>
                        <a:ext cx="142716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480001"/>
              </p:ext>
            </p:extLst>
          </p:nvPr>
        </p:nvGraphicFramePr>
        <p:xfrm>
          <a:off x="2032964" y="3109208"/>
          <a:ext cx="6778625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" name="Equation" r:id="rId15" imgW="2844720" imgH="761760" progId="Equation.DSMT4">
                  <p:embed/>
                </p:oleObj>
              </mc:Choice>
              <mc:Fallback>
                <p:oleObj name="Equation" r:id="rId15" imgW="2844720" imgH="761760" progId="Equation.DSMT4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964" y="3109208"/>
                        <a:ext cx="6778625" cy="181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771001" y="5252345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所求直线方程为：</a:t>
            </a: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886098"/>
              </p:ext>
            </p:extLst>
          </p:nvPr>
        </p:nvGraphicFramePr>
        <p:xfrm>
          <a:off x="4628521" y="5038031"/>
          <a:ext cx="37242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1" name="Equation" r:id="rId17" imgW="1257120" imgH="393480" progId="Equation.DSMT4">
                  <p:embed/>
                </p:oleObj>
              </mc:Choice>
              <mc:Fallback>
                <p:oleObj name="Equation" r:id="rId17" imgW="1257120" imgH="393480" progId="Equation.DSMT4">
                  <p:embed/>
                  <p:pic>
                    <p:nvPicPr>
                      <p:cNvPr id="1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8521" y="5038031"/>
                        <a:ext cx="3724275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503385"/>
              </p:ext>
            </p:extLst>
          </p:nvPr>
        </p:nvGraphicFramePr>
        <p:xfrm>
          <a:off x="6619054" y="768307"/>
          <a:ext cx="28813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" r:id="rId3" imgW="2880717" imgH="406365" progId="Equation.3">
                  <p:embed/>
                </p:oleObj>
              </mc:Choice>
              <mc:Fallback>
                <p:oleObj r:id="rId3" imgW="2880717" imgH="406365" progId="Equation.3">
                  <p:embed/>
                  <p:pic>
                    <p:nvPicPr>
                      <p:cNvPr id="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054" y="768307"/>
                        <a:ext cx="2881312" cy="406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1262035" y="1281092"/>
            <a:ext cx="449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直线方程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zh-CN" sz="2800" b="1" dirty="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 </a:t>
            </a:r>
            <a:endParaRPr lang="zh-CN" altLang="zh-CN" sz="2400" b="1" dirty="0">
              <a:solidFill>
                <a:schemeClr val="accent2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5" name="Text Box 32"/>
          <p:cNvSpPr txBox="1">
            <a:spLocks noChangeArrowheads="1"/>
          </p:cNvSpPr>
          <p:nvPr/>
        </p:nvSpPr>
        <p:spPr bwMode="auto">
          <a:xfrm>
            <a:off x="9500366" y="671491"/>
            <a:ext cx="1266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垂直的</a:t>
            </a:r>
          </a:p>
        </p:txBody>
      </p:sp>
      <p:sp>
        <p:nvSpPr>
          <p:cNvPr id="22" name="Rectangle 39"/>
          <p:cNvSpPr txBox="1">
            <a:spLocks noChangeArrowheads="1"/>
          </p:cNvSpPr>
          <p:nvPr/>
        </p:nvSpPr>
        <p:spPr>
          <a:xfrm>
            <a:off x="1281082" y="671491"/>
            <a:ext cx="5634067" cy="609600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  <a:cs typeface="+mj-cs"/>
              </a:rPr>
              <a:t>练习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  <a:cs typeface="+mj-cs"/>
              </a:rPr>
              <a:t>2</a:t>
            </a:r>
            <a:r>
              <a:rPr lang="zh-CN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  <a:cs typeface="+mj-cs"/>
              </a:rPr>
              <a:t>.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  <a:cs typeface="+mj-cs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cs typeface="+mj-cs"/>
              </a:rPr>
              <a:t>求过点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  <a:cs typeface="+mj-cs"/>
              </a:rPr>
              <a:t>(1,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cs typeface="+mj-cs"/>
              </a:rPr>
              <a:t>－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  <a:cs typeface="+mj-cs"/>
              </a:rPr>
              <a:t>2 , 4)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cs typeface="+mj-cs"/>
              </a:rPr>
              <a:t>且与平面</a:t>
            </a:r>
          </a:p>
        </p:txBody>
      </p:sp>
      <p:graphicFrame>
        <p:nvGraphicFramePr>
          <p:cNvPr id="23" name="Object 11">
            <a:extLst>
              <a:ext uri="{FF2B5EF4-FFF2-40B4-BE49-F238E27FC236}">
                <a16:creationId xmlns:a16="http://schemas.microsoft.com/office/drawing/2014/main" id="{E2295849-7E6B-44BC-8469-470C3D3DE0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367786"/>
              </p:ext>
            </p:extLst>
          </p:nvPr>
        </p:nvGraphicFramePr>
        <p:xfrm>
          <a:off x="1415900" y="1941492"/>
          <a:ext cx="334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4" name="Equation" r:id="rId5" imgW="3340080" imgH="838080" progId="Equation.DSMT4">
                  <p:embed/>
                </p:oleObj>
              </mc:Choice>
              <mc:Fallback>
                <p:oleObj name="Equation" r:id="rId5" imgW="3340080" imgH="838080" progId="Equation.DSMT4">
                  <p:embed/>
                  <p:pic>
                    <p:nvPicPr>
                      <p:cNvPr id="14352" name="Object 11">
                        <a:extLst>
                          <a:ext uri="{FF2B5EF4-FFF2-40B4-BE49-F238E27FC236}">
                            <a16:creationId xmlns:a16="http://schemas.microsoft.com/office/drawing/2014/main" id="{B1B313A9-0E71-4152-8A4A-B1964F9ED7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900" y="1941492"/>
                        <a:ext cx="3340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DC574030-45DC-45B4-9B81-93CBFB2DF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882139"/>
              </p:ext>
            </p:extLst>
          </p:nvPr>
        </p:nvGraphicFramePr>
        <p:xfrm>
          <a:off x="7159625" y="1898650"/>
          <a:ext cx="332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5" name="Equation" r:id="rId7" imgW="3327120" imgH="838080" progId="Equation.DSMT4">
                  <p:embed/>
                </p:oleObj>
              </mc:Choice>
              <mc:Fallback>
                <p:oleObj name="Equation" r:id="rId7" imgW="3327120" imgH="838080" progId="Equation.DSMT4">
                  <p:embed/>
                  <p:pic>
                    <p:nvPicPr>
                      <p:cNvPr id="23" name="Object 11">
                        <a:extLst>
                          <a:ext uri="{FF2B5EF4-FFF2-40B4-BE49-F238E27FC236}">
                            <a16:creationId xmlns:a16="http://schemas.microsoft.com/office/drawing/2014/main" id="{E2295849-7E6B-44BC-8469-470C3D3DE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25" y="1898650"/>
                        <a:ext cx="332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5A8DCCD6-1866-438F-85A2-E6FFC117B8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925159"/>
              </p:ext>
            </p:extLst>
          </p:nvPr>
        </p:nvGraphicFramePr>
        <p:xfrm>
          <a:off x="1409700" y="3024245"/>
          <a:ext cx="468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6" name="Equation" r:id="rId9" imgW="4686120" imgH="393480" progId="Equation.DSMT4">
                  <p:embed/>
                </p:oleObj>
              </mc:Choice>
              <mc:Fallback>
                <p:oleObj name="Equation" r:id="rId9" imgW="4686120" imgH="393480" progId="Equation.DSMT4">
                  <p:embed/>
                  <p:pic>
                    <p:nvPicPr>
                      <p:cNvPr id="23" name="Object 11">
                        <a:extLst>
                          <a:ext uri="{FF2B5EF4-FFF2-40B4-BE49-F238E27FC236}">
                            <a16:creationId xmlns:a16="http://schemas.microsoft.com/office/drawing/2014/main" id="{E2295849-7E6B-44BC-8469-470C3D3DE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3024245"/>
                        <a:ext cx="4686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03AADE14-F2FF-4287-A480-5D19A176D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723695"/>
              </p:ext>
            </p:extLst>
          </p:nvPr>
        </p:nvGraphicFramePr>
        <p:xfrm>
          <a:off x="1376335" y="3806882"/>
          <a:ext cx="4381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" name="Equation" r:id="rId11" imgW="4381200" imgH="393480" progId="Equation.DSMT4">
                  <p:embed/>
                </p:oleObj>
              </mc:Choice>
              <mc:Fallback>
                <p:oleObj name="Equation" r:id="rId11" imgW="4381200" imgH="393480" progId="Equation.DSMT4">
                  <p:embed/>
                  <p:pic>
                    <p:nvPicPr>
                      <p:cNvPr id="25" name="Object 11">
                        <a:extLst>
                          <a:ext uri="{FF2B5EF4-FFF2-40B4-BE49-F238E27FC236}">
                            <a16:creationId xmlns:a16="http://schemas.microsoft.com/office/drawing/2014/main" id="{5A8DCCD6-1866-438F-85A2-E6FFC117B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35" y="3806882"/>
                        <a:ext cx="4381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672388" y="2133601"/>
            <a:ext cx="2767012" cy="2443163"/>
            <a:chOff x="0" y="0"/>
            <a:chExt cx="1743" cy="1539"/>
          </a:xfrm>
        </p:grpSpPr>
        <p:sp>
          <p:nvSpPr>
            <p:cNvPr id="26670" name="Line 3"/>
            <p:cNvSpPr>
              <a:spLocks noChangeShapeType="1"/>
            </p:cNvSpPr>
            <p:nvPr/>
          </p:nvSpPr>
          <p:spPr bwMode="auto">
            <a:xfrm rot="3215520">
              <a:off x="231" y="97"/>
              <a:ext cx="873" cy="134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635" name="Object 4"/>
            <p:cNvGraphicFramePr>
              <a:graphicFrameLocks noChangeAspect="1"/>
            </p:cNvGraphicFramePr>
            <p:nvPr/>
          </p:nvGraphicFramePr>
          <p:xfrm>
            <a:off x="1445" y="470"/>
            <a:ext cx="29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2" r:id="rId3" imgW="191314" imgH="216781" progId="Equation.3">
                    <p:embed/>
                  </p:oleObj>
                </mc:Choice>
                <mc:Fallback>
                  <p:oleObj r:id="rId3" imgW="191314" imgH="216781" progId="Equation.3">
                    <p:embed/>
                    <p:pic>
                      <p:nvPicPr>
                        <p:cNvPr id="26635" name="Object 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5" y="470"/>
                          <a:ext cx="29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6" name="Object 5"/>
            <p:cNvGraphicFramePr>
              <a:graphicFrameLocks noChangeAspect="1"/>
            </p:cNvGraphicFramePr>
            <p:nvPr/>
          </p:nvGraphicFramePr>
          <p:xfrm>
            <a:off x="974" y="0"/>
            <a:ext cx="25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3" r:id="rId5" imgW="165848" imgH="216781" progId="Equation.3">
                    <p:embed/>
                  </p:oleObj>
                </mc:Choice>
                <mc:Fallback>
                  <p:oleObj r:id="rId5" imgW="165848" imgH="216781" progId="Equation.3">
                    <p:embed/>
                    <p:pic>
                      <p:nvPicPr>
                        <p:cNvPr id="26636" name="Object 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" y="0"/>
                          <a:ext cx="257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1" name="Line 6"/>
            <p:cNvSpPr>
              <a:spLocks noChangeShapeType="1"/>
            </p:cNvSpPr>
            <p:nvPr/>
          </p:nvSpPr>
          <p:spPr bwMode="auto">
            <a:xfrm rot="1964077" flipH="1">
              <a:off x="351" y="330"/>
              <a:ext cx="740" cy="12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2" name="Arc 7"/>
            <p:cNvSpPr>
              <a:spLocks/>
            </p:cNvSpPr>
            <p:nvPr/>
          </p:nvSpPr>
          <p:spPr bwMode="auto">
            <a:xfrm rot="-3102590">
              <a:off x="647" y="830"/>
              <a:ext cx="67" cy="103"/>
            </a:xfrm>
            <a:custGeom>
              <a:avLst/>
              <a:gdLst>
                <a:gd name="T0" fmla="*/ 0 w 21600"/>
                <a:gd name="T1" fmla="*/ 0 h 33492"/>
                <a:gd name="T2" fmla="*/ 0 w 21600"/>
                <a:gd name="T3" fmla="*/ 0 h 33492"/>
                <a:gd name="T4" fmla="*/ 0 w 21600"/>
                <a:gd name="T5" fmla="*/ 0 h 334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3492"/>
                <a:gd name="T11" fmla="*/ 21600 w 21600"/>
                <a:gd name="T12" fmla="*/ 33492 h 334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3492" fill="none" extrusionOk="0">
                  <a:moveTo>
                    <a:pt x="18031" y="-1"/>
                  </a:moveTo>
                  <a:cubicBezTo>
                    <a:pt x="20359" y="3529"/>
                    <a:pt x="21600" y="7664"/>
                    <a:pt x="21600" y="11892"/>
                  </a:cubicBezTo>
                  <a:cubicBezTo>
                    <a:pt x="21600" y="23821"/>
                    <a:pt x="11929" y="33491"/>
                    <a:pt x="0" y="33492"/>
                  </a:cubicBezTo>
                </a:path>
                <a:path w="21600" h="33492" stroke="0" extrusionOk="0">
                  <a:moveTo>
                    <a:pt x="18031" y="-1"/>
                  </a:moveTo>
                  <a:cubicBezTo>
                    <a:pt x="20359" y="3529"/>
                    <a:pt x="21600" y="7664"/>
                    <a:pt x="21600" y="11892"/>
                  </a:cubicBezTo>
                  <a:cubicBezTo>
                    <a:pt x="21600" y="23821"/>
                    <a:pt x="11929" y="33491"/>
                    <a:pt x="0" y="33492"/>
                  </a:cubicBezTo>
                  <a:lnTo>
                    <a:pt x="0" y="11892"/>
                  </a:lnTo>
                  <a:close/>
                </a:path>
              </a:pathLst>
            </a:custGeom>
            <a:noFill/>
            <a:ln w="2857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637" name="Object 8"/>
            <p:cNvGraphicFramePr>
              <a:graphicFrameLocks noChangeAspect="1"/>
            </p:cNvGraphicFramePr>
            <p:nvPr/>
          </p:nvGraphicFramePr>
          <p:xfrm>
            <a:off x="717" y="717"/>
            <a:ext cx="16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4" r:id="rId7" imgW="280325" imgH="331235" progId="Equation.3">
                    <p:embed/>
                  </p:oleObj>
                </mc:Choice>
                <mc:Fallback>
                  <p:oleObj r:id="rId7" imgW="280325" imgH="331235" progId="Equation.3">
                    <p:embed/>
                    <p:pic>
                      <p:nvPicPr>
                        <p:cNvPr id="2663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" y="717"/>
                          <a:ext cx="166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9" name="Rectangle 9"/>
          <p:cNvSpPr>
            <a:spLocks noGrp="1" noChangeArrowheads="1"/>
          </p:cNvSpPr>
          <p:nvPr>
            <p:ph type="title"/>
          </p:nvPr>
        </p:nvSpPr>
        <p:spPr>
          <a:xfrm>
            <a:off x="3992563" y="341933"/>
            <a:ext cx="4800600" cy="762000"/>
          </a:xfrm>
        </p:spPr>
        <p:txBody>
          <a:bodyPr/>
          <a:lstStyle/>
          <a:p>
            <a:pPr algn="l" eaLnBrk="1" hangingPunct="1"/>
            <a:r>
              <a:rPr lang="zh-CN" altLang="en-US" sz="36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线面间的位置关系</a:t>
            </a:r>
          </a:p>
        </p:txBody>
      </p:sp>
      <p:sp>
        <p:nvSpPr>
          <p:cNvPr id="2765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418020" y="1058862"/>
            <a:ext cx="28956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zh-CN" sz="2800" dirty="0">
                <a:latin typeface="Times New Roman" pitchFamily="18" charset="0"/>
                <a:ea typeface="黑体" pitchFamily="2" charset="-122"/>
              </a:rPr>
              <a:t>1. </a:t>
            </a:r>
            <a:r>
              <a:rPr lang="zh-CN" altLang="en-US" sz="2800" dirty="0">
                <a:latin typeface="Times New Roman" pitchFamily="18" charset="0"/>
                <a:ea typeface="黑体" pitchFamily="2" charset="-122"/>
              </a:rPr>
              <a:t>两直线的夹角  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1493538" y="3887789"/>
            <a:ext cx="3733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则两直线夹角</a:t>
            </a:r>
            <a:r>
              <a:rPr lang="zh-CN" altLang="en-US" sz="2800" b="1" i="1" dirty="0">
                <a:latin typeface="Times New Roman" pitchFamily="18" charset="0"/>
                <a:ea typeface="黑体" pitchFamily="2" charset="-122"/>
              </a:rPr>
              <a:t> </a:t>
            </a:r>
            <a:r>
              <a:rPr lang="zh-CN" altLang="en-US" sz="2800" b="1" i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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满足</a:t>
            </a:r>
            <a:endParaRPr lang="zh-CN" altLang="en-US" sz="2800" b="1" dirty="0">
              <a:latin typeface="Times New Roman" pitchFamily="18" charset="0"/>
              <a:ea typeface="黑体" pitchFamily="2" charset="-122"/>
            </a:endParaRPr>
          </a:p>
        </p:txBody>
      </p:sp>
      <p:graphicFrame>
        <p:nvGraphicFramePr>
          <p:cNvPr id="27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043960"/>
              </p:ext>
            </p:extLst>
          </p:nvPr>
        </p:nvGraphicFramePr>
        <p:xfrm>
          <a:off x="2692451" y="2406185"/>
          <a:ext cx="10509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5" r:id="rId9" imgW="941342" imgH="458113" progId="Equation.3">
                  <p:embed/>
                </p:oleObj>
              </mc:Choice>
              <mc:Fallback>
                <p:oleObj r:id="rId9" imgW="941342" imgH="458113" progId="Equation.3">
                  <p:embed/>
                  <p:pic>
                    <p:nvPicPr>
                      <p:cNvPr id="276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51" y="2406185"/>
                        <a:ext cx="105092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1468488" y="2374434"/>
            <a:ext cx="1524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设直线</a:t>
            </a:r>
          </a:p>
        </p:txBody>
      </p:sp>
      <p:graphicFrame>
        <p:nvGraphicFramePr>
          <p:cNvPr id="276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545691"/>
              </p:ext>
            </p:extLst>
          </p:nvPr>
        </p:nvGraphicFramePr>
        <p:xfrm>
          <a:off x="4253495" y="4848945"/>
          <a:ext cx="55197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6" r:id="rId11" imgW="5524817" imgH="927417" progId="Equation.3">
                  <p:embed/>
                </p:oleObj>
              </mc:Choice>
              <mc:Fallback>
                <p:oleObj r:id="rId11" imgW="5524817" imgH="927417" progId="Equation.3">
                  <p:embed/>
                  <p:pic>
                    <p:nvPicPr>
                      <p:cNvPr id="276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3495" y="4848945"/>
                        <a:ext cx="5519737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1467432" y="1701083"/>
            <a:ext cx="830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两直线的夹角指其方向向量间的夹角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通常取锐角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)</a:t>
            </a: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3600500" y="2344272"/>
            <a:ext cx="3505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的方向向量分别为</a:t>
            </a:r>
          </a:p>
        </p:txBody>
      </p:sp>
      <p:graphicFrame>
        <p:nvGraphicFramePr>
          <p:cNvPr id="276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662597"/>
              </p:ext>
            </p:extLst>
          </p:nvPr>
        </p:nvGraphicFramePr>
        <p:xfrm>
          <a:off x="5380619" y="4766395"/>
          <a:ext cx="31226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" r:id="rId13" imgW="3123162" imgH="482708" progId="Equation.3">
                  <p:embed/>
                </p:oleObj>
              </mc:Choice>
              <mc:Fallback>
                <p:oleObj r:id="rId13" imgW="3123162" imgH="482708" progId="Equation.3">
                  <p:embed/>
                  <p:pic>
                    <p:nvPicPr>
                      <p:cNvPr id="276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0619" y="4766395"/>
                        <a:ext cx="3122612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486475"/>
              </p:ext>
            </p:extLst>
          </p:nvPr>
        </p:nvGraphicFramePr>
        <p:xfrm>
          <a:off x="4509082" y="5349007"/>
          <a:ext cx="2513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" r:id="rId15" imgW="2513826" imgH="571569" progId="Equation.3">
                  <p:embed/>
                </p:oleObj>
              </mc:Choice>
              <mc:Fallback>
                <p:oleObj r:id="rId15" imgW="2513826" imgH="571569" progId="Equation.3">
                  <p:embed/>
                  <p:pic>
                    <p:nvPicPr>
                      <p:cNvPr id="276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082" y="5349007"/>
                        <a:ext cx="25130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679954"/>
              </p:ext>
            </p:extLst>
          </p:nvPr>
        </p:nvGraphicFramePr>
        <p:xfrm>
          <a:off x="7112582" y="5349007"/>
          <a:ext cx="2563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" r:id="rId17" imgW="2564604" imgH="571569" progId="Equation.3">
                  <p:embed/>
                </p:oleObj>
              </mc:Choice>
              <mc:Fallback>
                <p:oleObj r:id="rId17" imgW="2564604" imgH="571569" progId="Equation.3">
                  <p:embed/>
                  <p:pic>
                    <p:nvPicPr>
                      <p:cNvPr id="2766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582" y="5349007"/>
                        <a:ext cx="2563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646620" y="4795838"/>
            <a:ext cx="2489200" cy="1003300"/>
            <a:chOff x="0" y="0"/>
            <a:chExt cx="1568" cy="632"/>
          </a:xfrm>
        </p:grpSpPr>
        <p:graphicFrame>
          <p:nvGraphicFramePr>
            <p:cNvPr id="26633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1370011"/>
                </p:ext>
              </p:extLst>
            </p:nvPr>
          </p:nvGraphicFramePr>
          <p:xfrm>
            <a:off x="0" y="0"/>
            <a:ext cx="1568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0" r:id="rId19" imgW="2488437" imgH="1003182" progId="Equation.3">
                    <p:embed/>
                  </p:oleObj>
                </mc:Choice>
                <mc:Fallback>
                  <p:oleObj r:id="rId19" imgW="2488437" imgH="1003182" progId="Equation.3">
                    <p:embed/>
                    <p:pic>
                      <p:nvPicPr>
                        <p:cNvPr id="26633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68" cy="6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4" name="Line 26"/>
            <p:cNvSpPr>
              <a:spLocks noChangeShapeType="1"/>
            </p:cNvSpPr>
            <p:nvPr/>
          </p:nvSpPr>
          <p:spPr bwMode="auto">
            <a:xfrm>
              <a:off x="864" y="3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6665" name="Line 27"/>
            <p:cNvSpPr>
              <a:spLocks noChangeShapeType="1"/>
            </p:cNvSpPr>
            <p:nvPr/>
          </p:nvSpPr>
          <p:spPr bwMode="auto">
            <a:xfrm>
              <a:off x="1200" y="3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6666" name="Line 28"/>
            <p:cNvSpPr>
              <a:spLocks noChangeShapeType="1"/>
            </p:cNvSpPr>
            <p:nvPr/>
          </p:nvSpPr>
          <p:spPr bwMode="auto">
            <a:xfrm>
              <a:off x="864" y="36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6667" name="Line 29"/>
            <p:cNvSpPr>
              <a:spLocks noChangeShapeType="1"/>
            </p:cNvSpPr>
            <p:nvPr/>
          </p:nvSpPr>
          <p:spPr bwMode="auto">
            <a:xfrm>
              <a:off x="1233" y="36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8534400" y="2667000"/>
            <a:ext cx="471488" cy="533400"/>
            <a:chOff x="0" y="0"/>
            <a:chExt cx="297" cy="336"/>
          </a:xfrm>
        </p:grpSpPr>
        <p:sp>
          <p:nvSpPr>
            <p:cNvPr id="26661" name="Line 31"/>
            <p:cNvSpPr>
              <a:spLocks noChangeShapeType="1"/>
            </p:cNvSpPr>
            <p:nvPr/>
          </p:nvSpPr>
          <p:spPr bwMode="auto">
            <a:xfrm flipV="1">
              <a:off x="163" y="0"/>
              <a:ext cx="13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" name="Group 32"/>
            <p:cNvGrpSpPr>
              <a:grpSpLocks/>
            </p:cNvGrpSpPr>
            <p:nvPr/>
          </p:nvGrpSpPr>
          <p:grpSpPr bwMode="auto">
            <a:xfrm>
              <a:off x="0" y="8"/>
              <a:ext cx="192" cy="280"/>
              <a:chOff x="0" y="0"/>
              <a:chExt cx="192" cy="280"/>
            </a:xfrm>
          </p:grpSpPr>
          <p:graphicFrame>
            <p:nvGraphicFramePr>
              <p:cNvPr id="26632" name="Object 33"/>
              <p:cNvGraphicFramePr>
                <a:graphicFrameLocks noChangeAspect="1"/>
              </p:cNvGraphicFramePr>
              <p:nvPr/>
            </p:nvGraphicFramePr>
            <p:xfrm>
              <a:off x="16" y="0"/>
              <a:ext cx="176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51" r:id="rId21" imgW="280325" imgH="445784" progId="Equation.3">
                      <p:embed/>
                    </p:oleObj>
                  </mc:Choice>
                  <mc:Fallback>
                    <p:oleObj r:id="rId21" imgW="280325" imgH="445784" progId="Equation.3">
                      <p:embed/>
                      <p:pic>
                        <p:nvPicPr>
                          <p:cNvPr id="26632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" y="0"/>
                            <a:ext cx="176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63" name="Line 34"/>
              <p:cNvSpPr>
                <a:spLocks noChangeShapeType="1"/>
              </p:cNvSpPr>
              <p:nvPr/>
            </p:nvSpPr>
            <p:spPr bwMode="auto">
              <a:xfrm>
                <a:off x="0" y="25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9120188" y="3200400"/>
            <a:ext cx="557212" cy="673100"/>
            <a:chOff x="0" y="0"/>
            <a:chExt cx="351" cy="424"/>
          </a:xfrm>
        </p:grpSpPr>
        <p:sp>
          <p:nvSpPr>
            <p:cNvPr id="26658" name="Line 36"/>
            <p:cNvSpPr>
              <a:spLocks noChangeShapeType="1"/>
            </p:cNvSpPr>
            <p:nvPr/>
          </p:nvSpPr>
          <p:spPr bwMode="auto">
            <a:xfrm flipV="1">
              <a:off x="0" y="0"/>
              <a:ext cx="351" cy="1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" name="Group 37"/>
            <p:cNvGrpSpPr>
              <a:grpSpLocks/>
            </p:cNvGrpSpPr>
            <p:nvPr/>
          </p:nvGrpSpPr>
          <p:grpSpPr bwMode="auto">
            <a:xfrm>
              <a:off x="142" y="144"/>
              <a:ext cx="209" cy="280"/>
              <a:chOff x="0" y="0"/>
              <a:chExt cx="209" cy="280"/>
            </a:xfrm>
          </p:grpSpPr>
          <p:graphicFrame>
            <p:nvGraphicFramePr>
              <p:cNvPr id="26631" name="Object 38"/>
              <p:cNvGraphicFramePr>
                <a:graphicFrameLocks noChangeAspect="1"/>
              </p:cNvGraphicFramePr>
              <p:nvPr/>
            </p:nvGraphicFramePr>
            <p:xfrm>
              <a:off x="9" y="0"/>
              <a:ext cx="200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52" r:id="rId23" imgW="318369" imgH="445590" progId="Equation.3">
                      <p:embed/>
                    </p:oleObj>
                  </mc:Choice>
                  <mc:Fallback>
                    <p:oleObj r:id="rId23" imgW="318369" imgH="445590" progId="Equation.3">
                      <p:embed/>
                      <p:pic>
                        <p:nvPicPr>
                          <p:cNvPr id="26631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" y="0"/>
                            <a:ext cx="200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60" name="Line 39"/>
              <p:cNvSpPr>
                <a:spLocks noChangeShapeType="1"/>
              </p:cNvSpPr>
              <p:nvPr/>
            </p:nvSpPr>
            <p:spPr bwMode="auto">
              <a:xfrm>
                <a:off x="0" y="24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0" name="Object 11">
            <a:extLst>
              <a:ext uri="{FF2B5EF4-FFF2-40B4-BE49-F238E27FC236}">
                <a16:creationId xmlns:a16="http://schemas.microsoft.com/office/drawing/2014/main" id="{224E8CC4-62D8-4077-A75B-FCE57C49F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817768"/>
              </p:ext>
            </p:extLst>
          </p:nvPr>
        </p:nvGraphicFramePr>
        <p:xfrm>
          <a:off x="2654778" y="3132982"/>
          <a:ext cx="4635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3" name="Equation" r:id="rId25" imgW="4635360" imgH="520560" progId="Equation.DSMT4">
                  <p:embed/>
                </p:oleObj>
              </mc:Choice>
              <mc:Fallback>
                <p:oleObj name="Equation" r:id="rId25" imgW="4635360" imgH="520560" progId="Equation.DSMT4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9CC7ED7A-F7DD-474C-98DC-0740368D9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778" y="3132982"/>
                        <a:ext cx="4635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 build="p" autoUpdateAnimBg="0"/>
      <p:bldP spid="27659" grpId="0" autoUpdateAnimBg="0"/>
      <p:bldP spid="27661" grpId="0" autoUpdateAnimBg="0"/>
      <p:bldP spid="27663" grpId="0" autoUpdateAnimBg="0"/>
      <p:bldP spid="276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Text Box 2"/>
          <p:cNvSpPr txBox="1">
            <a:spLocks noChangeArrowheads="1"/>
          </p:cNvSpPr>
          <p:nvPr/>
        </p:nvSpPr>
        <p:spPr bwMode="auto">
          <a:xfrm>
            <a:off x="1327673" y="515144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特别有</a:t>
            </a:r>
            <a:r>
              <a:rPr lang="zh-CN" altLang="zh-CN" sz="2800" b="1" dirty="0"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733403"/>
              </p:ext>
            </p:extLst>
          </p:nvPr>
        </p:nvGraphicFramePr>
        <p:xfrm>
          <a:off x="1464327" y="1624808"/>
          <a:ext cx="177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6" r:id="rId3" imgW="1778317" imgH="457517" progId="Equation.3">
                  <p:embed/>
                </p:oleObj>
              </mc:Choice>
              <mc:Fallback>
                <p:oleObj r:id="rId3" imgW="1778317" imgH="457517" progId="Equation.3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4327" y="1624808"/>
                        <a:ext cx="1778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697869"/>
              </p:ext>
            </p:extLst>
          </p:nvPr>
        </p:nvGraphicFramePr>
        <p:xfrm>
          <a:off x="1483377" y="2983708"/>
          <a:ext cx="1689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" r:id="rId5" imgW="1689417" imgH="457517" progId="Equation.3">
                  <p:embed/>
                </p:oleObj>
              </mc:Choice>
              <mc:Fallback>
                <p:oleObj r:id="rId5" imgW="1689417" imgH="457517" progId="Equation.3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3377" y="2983708"/>
                        <a:ext cx="16891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AutoShape 5"/>
          <p:cNvSpPr>
            <a:spLocks noChangeArrowheads="1"/>
          </p:cNvSpPr>
          <p:nvPr/>
        </p:nvSpPr>
        <p:spPr bwMode="auto">
          <a:xfrm>
            <a:off x="3331227" y="1770859"/>
            <a:ext cx="915988" cy="130175"/>
          </a:xfrm>
          <a:prstGeom prst="leftRightArrow">
            <a:avLst>
              <a:gd name="adj1" fmla="val 50000"/>
              <a:gd name="adj2" fmla="val 14073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3331227" y="2463009"/>
            <a:ext cx="915988" cy="130175"/>
          </a:xfrm>
          <a:prstGeom prst="leftRightArrow">
            <a:avLst>
              <a:gd name="adj1" fmla="val 50000"/>
              <a:gd name="adj2" fmla="val 14073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9" name="AutoShape 7"/>
          <p:cNvSpPr>
            <a:spLocks noChangeArrowheads="1"/>
          </p:cNvSpPr>
          <p:nvPr/>
        </p:nvSpPr>
        <p:spPr bwMode="auto">
          <a:xfrm>
            <a:off x="3331227" y="3147222"/>
            <a:ext cx="915988" cy="130175"/>
          </a:xfrm>
          <a:prstGeom prst="leftRightArrow">
            <a:avLst>
              <a:gd name="adj1" fmla="val 50000"/>
              <a:gd name="adj2" fmla="val 14073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0" name="AutoShape 8"/>
          <p:cNvSpPr>
            <a:spLocks noChangeArrowheads="1"/>
          </p:cNvSpPr>
          <p:nvPr/>
        </p:nvSpPr>
        <p:spPr bwMode="auto">
          <a:xfrm>
            <a:off x="3331227" y="3933034"/>
            <a:ext cx="915988" cy="130175"/>
          </a:xfrm>
          <a:prstGeom prst="leftRightArrow">
            <a:avLst>
              <a:gd name="adj1" fmla="val 50000"/>
              <a:gd name="adj2" fmla="val 14073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521202"/>
              </p:ext>
            </p:extLst>
          </p:nvPr>
        </p:nvGraphicFramePr>
        <p:xfrm>
          <a:off x="4437716" y="2297908"/>
          <a:ext cx="3552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8" r:id="rId7" imgW="3556317" imgH="457517" progId="Equation.3">
                  <p:embed/>
                </p:oleObj>
              </mc:Choice>
              <mc:Fallback>
                <p:oleObj r:id="rId7" imgW="3556317" imgH="457517" progId="Equation.3">
                  <p:embed/>
                  <p:pic>
                    <p:nvPicPr>
                      <p:cNvPr id="286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716" y="2297908"/>
                        <a:ext cx="35528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925734"/>
              </p:ext>
            </p:extLst>
          </p:nvPr>
        </p:nvGraphicFramePr>
        <p:xfrm>
          <a:off x="4474227" y="3510758"/>
          <a:ext cx="2070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9" r:id="rId9" imgW="2070417" imgH="978217" progId="Equation.3">
                  <p:embed/>
                </p:oleObj>
              </mc:Choice>
              <mc:Fallback>
                <p:oleObj r:id="rId9" imgW="2070417" imgH="978217" progId="Equation.3">
                  <p:embed/>
                  <p:pic>
                    <p:nvPicPr>
                      <p:cNvPr id="286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4227" y="3510758"/>
                        <a:ext cx="20701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450415" y="1612108"/>
            <a:ext cx="1001712" cy="457200"/>
            <a:chOff x="0" y="0"/>
            <a:chExt cx="631" cy="288"/>
          </a:xfrm>
        </p:grpSpPr>
        <p:graphicFrame>
          <p:nvGraphicFramePr>
            <p:cNvPr id="27655" name="Object 12"/>
            <p:cNvGraphicFramePr>
              <a:graphicFrameLocks noChangeAspect="1"/>
            </p:cNvGraphicFramePr>
            <p:nvPr/>
          </p:nvGraphicFramePr>
          <p:xfrm>
            <a:off x="15" y="0"/>
            <a:ext cx="6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20" r:id="rId11" imgW="979492" imgH="458113" progId="Equation.3">
                    <p:embed/>
                  </p:oleObj>
                </mc:Choice>
                <mc:Fallback>
                  <p:oleObj r:id="rId11" imgW="979492" imgH="458113" progId="Equation.3">
                    <p:embed/>
                    <p:pic>
                      <p:nvPicPr>
                        <p:cNvPr id="2765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" y="0"/>
                          <a:ext cx="61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4" name="Line 13"/>
            <p:cNvSpPr>
              <a:spLocks noChangeShapeType="1"/>
            </p:cNvSpPr>
            <p:nvPr/>
          </p:nvSpPr>
          <p:spPr bwMode="auto">
            <a:xfrm>
              <a:off x="0" y="15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7675" name="Line 14"/>
            <p:cNvSpPr>
              <a:spLocks noChangeShapeType="1"/>
            </p:cNvSpPr>
            <p:nvPr/>
          </p:nvSpPr>
          <p:spPr bwMode="auto">
            <a:xfrm>
              <a:off x="399" y="15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398027" y="3050383"/>
            <a:ext cx="914400" cy="457200"/>
            <a:chOff x="0" y="0"/>
            <a:chExt cx="576" cy="288"/>
          </a:xfrm>
        </p:grpSpPr>
        <p:graphicFrame>
          <p:nvGraphicFramePr>
            <p:cNvPr id="27654" name="Object 16"/>
            <p:cNvGraphicFramePr>
              <a:graphicFrameLocks noChangeAspect="1"/>
            </p:cNvGraphicFramePr>
            <p:nvPr/>
          </p:nvGraphicFramePr>
          <p:xfrm>
            <a:off x="0" y="0"/>
            <a:ext cx="5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21" r:id="rId13" imgW="915909" imgH="458113" progId="Equation.3">
                    <p:embed/>
                  </p:oleObj>
                </mc:Choice>
                <mc:Fallback>
                  <p:oleObj r:id="rId13" imgW="915909" imgH="458113" progId="Equation.3">
                    <p:embed/>
                    <p:pic>
                      <p:nvPicPr>
                        <p:cNvPr id="2765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2" name="Line 17"/>
            <p:cNvSpPr>
              <a:spLocks noChangeShapeType="1"/>
            </p:cNvSpPr>
            <p:nvPr/>
          </p:nvSpPr>
          <p:spPr bwMode="auto">
            <a:xfrm>
              <a:off x="0" y="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7673" name="Line 18"/>
            <p:cNvSpPr>
              <a:spLocks noChangeShapeType="1"/>
            </p:cNvSpPr>
            <p:nvPr/>
          </p:nvSpPr>
          <p:spPr bwMode="auto">
            <a:xfrm>
              <a:off x="384" y="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animBg="1"/>
      <p:bldP spid="28678" grpId="0" animBg="1"/>
      <p:bldP spid="28679" grpId="0" animBg="1"/>
      <p:bldP spid="2868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5654" y="564702"/>
            <a:ext cx="1212864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练习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：直线                        与直线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            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的位置关系为</a:t>
            </a:r>
            <a:r>
              <a:rPr lang="zh-CN" altLang="en-US" sz="2800" b="1" u="sng" dirty="0">
                <a:latin typeface="黑体" pitchFamily="49" charset="-122"/>
                <a:ea typeface="黑体" pitchFamily="49" charset="-122"/>
              </a:rPr>
              <a:t>          ？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             </a:t>
            </a:r>
          </a:p>
        </p:txBody>
      </p:sp>
      <p:graphicFrame>
        <p:nvGraphicFramePr>
          <p:cNvPr id="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509444"/>
              </p:ext>
            </p:extLst>
          </p:nvPr>
        </p:nvGraphicFramePr>
        <p:xfrm>
          <a:off x="3753799" y="323345"/>
          <a:ext cx="36861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7" name="Equation" r:id="rId3" imgW="1244520" imgH="457200" progId="Equation.DSMT4">
                  <p:embed/>
                </p:oleObj>
              </mc:Choice>
              <mc:Fallback>
                <p:oleObj name="Equation" r:id="rId3" imgW="1244520" imgH="457200" progId="Equation.DSMT4">
                  <p:embed/>
                  <p:pic>
                    <p:nvPicPr>
                      <p:cNvPr id="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799" y="323345"/>
                        <a:ext cx="3686175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781083"/>
              </p:ext>
            </p:extLst>
          </p:nvPr>
        </p:nvGraphicFramePr>
        <p:xfrm>
          <a:off x="1375654" y="1532864"/>
          <a:ext cx="38735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8" name="Equation" r:id="rId5" imgW="1307880" imgH="457200" progId="Equation.DSMT4">
                  <p:embed/>
                </p:oleObj>
              </mc:Choice>
              <mc:Fallback>
                <p:oleObj name="Equation" r:id="rId5" imgW="1307880" imgH="457200" progId="Equation.DSMT4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5654" y="1532864"/>
                        <a:ext cx="3873500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F5D2EB87-823E-4E24-9439-F7313E392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159352"/>
              </p:ext>
            </p:extLst>
          </p:nvPr>
        </p:nvGraphicFramePr>
        <p:xfrm>
          <a:off x="1554163" y="3132846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9" name="Equation" r:id="rId7" imgW="1460160" imgH="431640" progId="Equation.DSMT4">
                  <p:embed/>
                </p:oleObj>
              </mc:Choice>
              <mc:Fallback>
                <p:oleObj name="Equation" r:id="rId7" imgW="1460160" imgH="431640" progId="Equation.DSMT4">
                  <p:embed/>
                  <p:pic>
                    <p:nvPicPr>
                      <p:cNvPr id="23" name="Object 11">
                        <a:extLst>
                          <a:ext uri="{FF2B5EF4-FFF2-40B4-BE49-F238E27FC236}">
                            <a16:creationId xmlns:a16="http://schemas.microsoft.com/office/drawing/2014/main" id="{E2295849-7E6B-44BC-8469-470C3D3DE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3132846"/>
                        <a:ext cx="1460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566626D8-0EB9-4523-B133-D019C8137D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335248"/>
              </p:ext>
            </p:extLst>
          </p:nvPr>
        </p:nvGraphicFramePr>
        <p:xfrm>
          <a:off x="6143625" y="3136981"/>
          <a:ext cx="142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0" name="Equation" r:id="rId9" imgW="1422360" imgH="431640" progId="Equation.DSMT4">
                  <p:embed/>
                </p:oleObj>
              </mc:Choice>
              <mc:Fallback>
                <p:oleObj name="Equation" r:id="rId9" imgW="1422360" imgH="43164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F5D2EB87-823E-4E24-9439-F7313E392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3136981"/>
                        <a:ext cx="1422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BA61E2CD-D4E6-4DFF-A238-254F8A6E8F31}"/>
              </a:ext>
            </a:extLst>
          </p:cNvPr>
          <p:cNvGrpSpPr/>
          <p:nvPr/>
        </p:nvGrpSpPr>
        <p:grpSpPr>
          <a:xfrm>
            <a:off x="1554163" y="3954197"/>
            <a:ext cx="2889077" cy="523220"/>
            <a:chOff x="6194425" y="3026430"/>
            <a:chExt cx="2889077" cy="523220"/>
          </a:xfrm>
        </p:grpSpPr>
        <p:graphicFrame>
          <p:nvGraphicFramePr>
            <p:cNvPr id="15" name="Object 11">
              <a:extLst>
                <a:ext uri="{FF2B5EF4-FFF2-40B4-BE49-F238E27FC236}">
                  <a16:creationId xmlns:a16="http://schemas.microsoft.com/office/drawing/2014/main" id="{25DE6D5A-5F25-483E-BEE8-A7019F9120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7497419"/>
                </p:ext>
              </p:extLst>
            </p:nvPr>
          </p:nvGraphicFramePr>
          <p:xfrm>
            <a:off x="6194425" y="3117850"/>
            <a:ext cx="1155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1" name="Equation" r:id="rId11" imgW="1155600" imgH="431640" progId="Equation.DSMT4">
                    <p:embed/>
                  </p:oleObj>
                </mc:Choice>
                <mc:Fallback>
                  <p:oleObj name="Equation" r:id="rId11" imgW="1155600" imgH="431640" progId="Equation.DSMT4">
                    <p:embed/>
                    <p:pic>
                      <p:nvPicPr>
                        <p:cNvPr id="14" name="Object 11">
                          <a:extLst>
                            <a:ext uri="{FF2B5EF4-FFF2-40B4-BE49-F238E27FC236}">
                              <a16:creationId xmlns:a16="http://schemas.microsoft.com/office/drawing/2014/main" id="{566626D8-0EB9-4523-B133-D019C8137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4425" y="3117850"/>
                          <a:ext cx="11557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6F684C7-9271-411E-B544-6F39A1E15E91}"/>
                </a:ext>
              </a:extLst>
            </p:cNvPr>
            <p:cNvSpPr txBox="1"/>
            <p:nvPr/>
          </p:nvSpPr>
          <p:spPr>
            <a:xfrm>
              <a:off x="7350125" y="3026430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b="1" dirty="0">
                  <a:latin typeface="+mj-ea"/>
                  <a:ea typeface="+mj-ea"/>
                </a:rPr>
                <a:t>夹角为</a:t>
              </a:r>
            </a:p>
          </p:txBody>
        </p:sp>
        <p:graphicFrame>
          <p:nvGraphicFramePr>
            <p:cNvPr id="16" name="Object 11">
              <a:extLst>
                <a:ext uri="{FF2B5EF4-FFF2-40B4-BE49-F238E27FC236}">
                  <a16:creationId xmlns:a16="http://schemas.microsoft.com/office/drawing/2014/main" id="{C63C2A55-1D15-4A51-8161-FD35C798BE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7155084"/>
                </p:ext>
              </p:extLst>
            </p:nvPr>
          </p:nvGraphicFramePr>
          <p:xfrm>
            <a:off x="8600902" y="3091190"/>
            <a:ext cx="482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2" name="Equation" r:id="rId13" imgW="482400" imgH="393480" progId="Equation.DSMT4">
                    <p:embed/>
                  </p:oleObj>
                </mc:Choice>
                <mc:Fallback>
                  <p:oleObj name="Equation" r:id="rId13" imgW="482400" imgH="393480" progId="Equation.DSMT4">
                    <p:embed/>
                    <p:pic>
                      <p:nvPicPr>
                        <p:cNvPr id="14" name="Object 11">
                          <a:extLst>
                            <a:ext uri="{FF2B5EF4-FFF2-40B4-BE49-F238E27FC236}">
                              <a16:creationId xmlns:a16="http://schemas.microsoft.com/office/drawing/2014/main" id="{566626D8-0EB9-4523-B133-D019C8137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0902" y="3091190"/>
                          <a:ext cx="4826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4A9BF53-7111-481A-85F1-547B10D1EF2D}"/>
              </a:ext>
            </a:extLst>
          </p:cNvPr>
          <p:cNvGrpSpPr/>
          <p:nvPr/>
        </p:nvGrpSpPr>
        <p:grpSpPr>
          <a:xfrm>
            <a:off x="6143625" y="3933886"/>
            <a:ext cx="3194545" cy="523220"/>
            <a:chOff x="6143625" y="3933886"/>
            <a:chExt cx="3194545" cy="523220"/>
          </a:xfrm>
        </p:grpSpPr>
        <p:graphicFrame>
          <p:nvGraphicFramePr>
            <p:cNvPr id="17" name="Object 11">
              <a:extLst>
                <a:ext uri="{FF2B5EF4-FFF2-40B4-BE49-F238E27FC236}">
                  <a16:creationId xmlns:a16="http://schemas.microsoft.com/office/drawing/2014/main" id="{DC7F2E28-FCA0-4A50-B941-74C9DBAFC3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1862155"/>
                </p:ext>
              </p:extLst>
            </p:nvPr>
          </p:nvGraphicFramePr>
          <p:xfrm>
            <a:off x="6143625" y="4025306"/>
            <a:ext cx="12065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3" name="Equation" r:id="rId15" imgW="1206360" imgH="431640" progId="Equation.DSMT4">
                    <p:embed/>
                  </p:oleObj>
                </mc:Choice>
                <mc:Fallback>
                  <p:oleObj name="Equation" r:id="rId15" imgW="1206360" imgH="431640" progId="Equation.DSMT4">
                    <p:embed/>
                    <p:pic>
                      <p:nvPicPr>
                        <p:cNvPr id="14" name="Object 11">
                          <a:extLst>
                            <a:ext uri="{FF2B5EF4-FFF2-40B4-BE49-F238E27FC236}">
                              <a16:creationId xmlns:a16="http://schemas.microsoft.com/office/drawing/2014/main" id="{566626D8-0EB9-4523-B133-D019C8137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3625" y="4025306"/>
                          <a:ext cx="12065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2424306-495E-4620-935F-91023DE1CF32}"/>
                </a:ext>
              </a:extLst>
            </p:cNvPr>
            <p:cNvSpPr txBox="1"/>
            <p:nvPr/>
          </p:nvSpPr>
          <p:spPr>
            <a:xfrm>
              <a:off x="7350125" y="3933886"/>
              <a:ext cx="19880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b="1" dirty="0">
                  <a:latin typeface="+mj-ea"/>
                  <a:ea typeface="+mj-ea"/>
                </a:rPr>
                <a:t>无必然关系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676" y="559660"/>
            <a:ext cx="10738220" cy="533400"/>
          </a:xfrm>
        </p:spPr>
        <p:txBody>
          <a:bodyPr/>
          <a:lstStyle/>
          <a:p>
            <a:pPr algn="l" eaLnBrk="1" hangingPunct="1"/>
            <a:r>
              <a:rPr lang="zh-CN" altLang="en-US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例</a:t>
            </a:r>
            <a:r>
              <a:rPr lang="en-US" altLang="zh-CN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3</a:t>
            </a:r>
            <a:r>
              <a:rPr lang="zh-CN" altLang="zh-CN" sz="2800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. 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求直线                                        与直线                                的夹角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.</a:t>
            </a:r>
            <a:endParaRPr lang="zh-CN" altLang="en-US" sz="2800" dirty="0">
              <a:solidFill>
                <a:schemeClr val="tx1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112839" y="2712230"/>
            <a:ext cx="1066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直线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112839" y="3506458"/>
            <a:ext cx="457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二直线夹角</a:t>
            </a:r>
            <a:r>
              <a:rPr lang="zh-CN" altLang="en-US" sz="2800" b="1" i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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的余弦为</a:t>
            </a:r>
          </a:p>
        </p:txBody>
      </p:sp>
      <p:graphicFrame>
        <p:nvGraphicFramePr>
          <p:cNvPr id="286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770220"/>
              </p:ext>
            </p:extLst>
          </p:nvPr>
        </p:nvGraphicFramePr>
        <p:xfrm>
          <a:off x="2979554" y="406716"/>
          <a:ext cx="35290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9" r:id="rId3" imgW="3530917" imgH="889317" progId="Equation.3">
                  <p:embed/>
                </p:oleObj>
              </mc:Choice>
              <mc:Fallback>
                <p:oleObj r:id="rId3" imgW="3530917" imgH="889317" progId="Equation.3">
                  <p:embed/>
                  <p:pic>
                    <p:nvPicPr>
                      <p:cNvPr id="286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554" y="406716"/>
                        <a:ext cx="3529012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838787"/>
              </p:ext>
            </p:extLst>
          </p:nvPr>
        </p:nvGraphicFramePr>
        <p:xfrm>
          <a:off x="7592218" y="337342"/>
          <a:ext cx="28051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0" r:id="rId5" imgW="2805799" imgH="1041265" progId="Equation.3">
                  <p:embed/>
                </p:oleObj>
              </mc:Choice>
              <mc:Fallback>
                <p:oleObj r:id="rId5" imgW="2805799" imgH="1041265" progId="Equation.3">
                  <p:embed/>
                  <p:pic>
                    <p:nvPicPr>
                      <p:cNvPr id="286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2218" y="337342"/>
                        <a:ext cx="2805113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533045"/>
              </p:ext>
            </p:extLst>
          </p:nvPr>
        </p:nvGraphicFramePr>
        <p:xfrm>
          <a:off x="1961357" y="4214484"/>
          <a:ext cx="69691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1" r:id="rId7" imgW="6972617" imgH="965517" progId="Equation.3">
                  <p:embed/>
                </p:oleObj>
              </mc:Choice>
              <mc:Fallback>
                <p:oleObj r:id="rId7" imgW="6972617" imgH="965517" progId="Equation.3">
                  <p:embed/>
                  <p:pic>
                    <p:nvPicPr>
                      <p:cNvPr id="297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357" y="4214484"/>
                        <a:ext cx="6969125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016296"/>
              </p:ext>
            </p:extLst>
          </p:nvPr>
        </p:nvGraphicFramePr>
        <p:xfrm>
          <a:off x="8911431" y="4182734"/>
          <a:ext cx="914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" r:id="rId9" imgW="915511" imgH="991778" progId="Equation.3">
                  <p:embed/>
                </p:oleObj>
              </mc:Choice>
              <mc:Fallback>
                <p:oleObj r:id="rId9" imgW="915511" imgH="991778" progId="Equation.3">
                  <p:embed/>
                  <p:pic>
                    <p:nvPicPr>
                      <p:cNvPr id="297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1431" y="4182734"/>
                        <a:ext cx="9144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112839" y="5359266"/>
            <a:ext cx="1143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从而</a:t>
            </a:r>
          </a:p>
        </p:txBody>
      </p:sp>
      <p:graphicFrame>
        <p:nvGraphicFramePr>
          <p:cNvPr id="297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671364"/>
              </p:ext>
            </p:extLst>
          </p:nvPr>
        </p:nvGraphicFramePr>
        <p:xfrm>
          <a:off x="2082803" y="5146541"/>
          <a:ext cx="1231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3" r:id="rId11" imgW="1233287" imgH="966356" progId="Equation.3">
                  <p:embed/>
                </p:oleObj>
              </mc:Choice>
              <mc:Fallback>
                <p:oleObj r:id="rId11" imgW="1233287" imgH="966356" progId="Equation.3">
                  <p:embed/>
                  <p:pic>
                    <p:nvPicPr>
                      <p:cNvPr id="297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3" y="5146541"/>
                        <a:ext cx="12319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2408239" y="2712230"/>
            <a:ext cx="2819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的方向向量为</a:t>
            </a:r>
          </a:p>
        </p:txBody>
      </p:sp>
      <p:graphicFrame>
        <p:nvGraphicFramePr>
          <p:cNvPr id="297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264722"/>
              </p:ext>
            </p:extLst>
          </p:nvPr>
        </p:nvGraphicFramePr>
        <p:xfrm>
          <a:off x="2027239" y="2801130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4" r:id="rId13" imgW="382146" imgH="445784" progId="Equation.3">
                  <p:embed/>
                </p:oleObj>
              </mc:Choice>
              <mc:Fallback>
                <p:oleObj r:id="rId13" imgW="382146" imgH="445784" progId="Equation.3">
                  <p:embed/>
                  <p:pic>
                    <p:nvPicPr>
                      <p:cNvPr id="2971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9" y="2801130"/>
                        <a:ext cx="381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832722"/>
              </p:ext>
            </p:extLst>
          </p:nvPr>
        </p:nvGraphicFramePr>
        <p:xfrm>
          <a:off x="3532982" y="4150984"/>
          <a:ext cx="43037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5" r:id="rId15" imgW="4303749" imgH="482708" progId="Equation.3">
                  <p:embed/>
                </p:oleObj>
              </mc:Choice>
              <mc:Fallback>
                <p:oleObj r:id="rId15" imgW="4303749" imgH="482708" progId="Equation.3">
                  <p:embed/>
                  <p:pic>
                    <p:nvPicPr>
                      <p:cNvPr id="2971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982" y="4150984"/>
                        <a:ext cx="43037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328442"/>
              </p:ext>
            </p:extLst>
          </p:nvPr>
        </p:nvGraphicFramePr>
        <p:xfrm>
          <a:off x="3107532" y="4770109"/>
          <a:ext cx="25257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6" r:id="rId17" imgW="2526521" imgH="520791" progId="Equation.3">
                  <p:embed/>
                </p:oleObj>
              </mc:Choice>
              <mc:Fallback>
                <p:oleObj r:id="rId17" imgW="2526521" imgH="520791" progId="Equation.3">
                  <p:embed/>
                  <p:pic>
                    <p:nvPicPr>
                      <p:cNvPr id="2971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532" y="4770109"/>
                        <a:ext cx="25257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198209"/>
              </p:ext>
            </p:extLst>
          </p:nvPr>
        </p:nvGraphicFramePr>
        <p:xfrm>
          <a:off x="5634832" y="4782809"/>
          <a:ext cx="30591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7" r:id="rId19" imgW="3059689" imgH="520791" progId="Equation.3">
                  <p:embed/>
                </p:oleObj>
              </mc:Choice>
              <mc:Fallback>
                <p:oleObj r:id="rId19" imgW="3059689" imgH="520791" progId="Equation.3">
                  <p:embed/>
                  <p:pic>
                    <p:nvPicPr>
                      <p:cNvPr id="2971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4832" y="4782809"/>
                        <a:ext cx="30591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7C69A7D-C057-481B-B11D-2E37FC53186E}"/>
              </a:ext>
            </a:extLst>
          </p:cNvPr>
          <p:cNvGrpSpPr/>
          <p:nvPr/>
        </p:nvGrpSpPr>
        <p:grpSpPr>
          <a:xfrm>
            <a:off x="1112839" y="1508441"/>
            <a:ext cx="6140450" cy="576262"/>
            <a:chOff x="1516064" y="2102643"/>
            <a:chExt cx="6140450" cy="576262"/>
          </a:xfrm>
        </p:grpSpPr>
        <p:sp>
          <p:nvSpPr>
            <p:cNvPr id="29699" name="Text Box 3"/>
            <p:cNvSpPr txBox="1">
              <a:spLocks noChangeArrowheads="1"/>
            </p:cNvSpPr>
            <p:nvPr/>
          </p:nvSpPr>
          <p:spPr bwMode="auto">
            <a:xfrm>
              <a:off x="1516064" y="2102643"/>
              <a:ext cx="175260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tx2"/>
                  </a:solidFill>
                  <a:latin typeface="Times New Roman" pitchFamily="18" charset="0"/>
                  <a:ea typeface="黑体" pitchFamily="2" charset="-122"/>
                </a:rPr>
                <a:t>解</a:t>
              </a:r>
              <a:r>
                <a:rPr lang="zh-CN" altLang="zh-CN" sz="2800" b="1">
                  <a:solidFill>
                    <a:schemeClr val="tx2"/>
                  </a:solidFill>
                  <a:latin typeface="Times New Roman" pitchFamily="18" charset="0"/>
                  <a:ea typeface="黑体" pitchFamily="2" charset="-122"/>
                </a:rPr>
                <a:t>: </a:t>
              </a:r>
              <a:r>
                <a:rPr lang="zh-CN" altLang="en-US" sz="2800" b="1">
                  <a:latin typeface="Times New Roman" pitchFamily="18" charset="0"/>
                  <a:ea typeface="黑体" pitchFamily="2" charset="-122"/>
                </a:rPr>
                <a:t>直线</a:t>
              </a:r>
            </a:p>
          </p:txBody>
        </p:sp>
        <p:sp>
          <p:nvSpPr>
            <p:cNvPr id="29708" name="Text Box 12"/>
            <p:cNvSpPr txBox="1">
              <a:spLocks noChangeArrowheads="1"/>
            </p:cNvSpPr>
            <p:nvPr/>
          </p:nvSpPr>
          <p:spPr bwMode="auto">
            <a:xfrm>
              <a:off x="3192464" y="2116931"/>
              <a:ext cx="2667000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itchFamily="18" charset="0"/>
                  <a:ea typeface="黑体" pitchFamily="2" charset="-122"/>
                </a:rPr>
                <a:t>的方向向量为</a:t>
              </a:r>
            </a:p>
          </p:txBody>
        </p:sp>
        <p:graphicFrame>
          <p:nvGraphicFramePr>
            <p:cNvPr id="2970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0517947"/>
                </p:ext>
              </p:extLst>
            </p:nvPr>
          </p:nvGraphicFramePr>
          <p:xfrm>
            <a:off x="2951164" y="2205830"/>
            <a:ext cx="3556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48" r:id="rId21" imgW="356535" imgH="458312" progId="Equation.3">
                    <p:embed/>
                  </p:oleObj>
                </mc:Choice>
                <mc:Fallback>
                  <p:oleObj r:id="rId21" imgW="356535" imgH="458312" progId="Equation.3">
                    <p:embed/>
                    <p:pic>
                      <p:nvPicPr>
                        <p:cNvPr id="2970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164" y="2205830"/>
                          <a:ext cx="3556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" name="Group 20"/>
            <p:cNvGrpSpPr>
              <a:grpSpLocks/>
            </p:cNvGrpSpPr>
            <p:nvPr/>
          </p:nvGrpSpPr>
          <p:grpSpPr bwMode="auto">
            <a:xfrm>
              <a:off x="5484814" y="2221705"/>
              <a:ext cx="2171700" cy="457200"/>
              <a:chOff x="0" y="0"/>
              <a:chExt cx="1368" cy="288"/>
            </a:xfrm>
          </p:grpSpPr>
          <p:graphicFrame>
            <p:nvGraphicFramePr>
              <p:cNvPr id="28686" name="Object 21"/>
              <p:cNvGraphicFramePr>
                <a:graphicFrameLocks noChangeAspect="1"/>
              </p:cNvGraphicFramePr>
              <p:nvPr/>
            </p:nvGraphicFramePr>
            <p:xfrm>
              <a:off x="0" y="0"/>
              <a:ext cx="136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49" name="Microsoft 公式 3.0 中文版" r:id="rId23" imgW="2172017" imgH="457517" progId="Equation.3">
                      <p:embed/>
                    </p:oleObj>
                  </mc:Choice>
                  <mc:Fallback>
                    <p:oleObj name="Microsoft 公式 3.0 中文版" r:id="rId23" imgW="2172017" imgH="457517" progId="Equation.3">
                      <p:embed/>
                      <p:pic>
                        <p:nvPicPr>
                          <p:cNvPr id="28686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1368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709" name="Line 22"/>
              <p:cNvSpPr>
                <a:spLocks noChangeShapeType="1"/>
              </p:cNvSpPr>
              <p:nvPr/>
            </p:nvSpPr>
            <p:spPr bwMode="auto">
              <a:xfrm>
                <a:off x="44" y="21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4586290" y="2220105"/>
            <a:ext cx="2487613" cy="1625600"/>
            <a:chOff x="0" y="0"/>
            <a:chExt cx="1567" cy="1024"/>
          </a:xfrm>
        </p:grpSpPr>
        <p:graphicFrame>
          <p:nvGraphicFramePr>
            <p:cNvPr id="28685" name="Object 24"/>
            <p:cNvGraphicFramePr>
              <a:graphicFrameLocks noChangeAspect="1"/>
            </p:cNvGraphicFramePr>
            <p:nvPr/>
          </p:nvGraphicFramePr>
          <p:xfrm>
            <a:off x="0" y="0"/>
            <a:ext cx="1567" cy="1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0" r:id="rId25" imgW="2489517" imgH="1625917" progId="Equation.3">
                    <p:embed/>
                  </p:oleObj>
                </mc:Choice>
                <mc:Fallback>
                  <p:oleObj r:id="rId25" imgW="2489517" imgH="1625917" progId="Equation.3">
                    <p:embed/>
                    <p:pic>
                      <p:nvPicPr>
                        <p:cNvPr id="2868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67" cy="10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5" name="Line 25"/>
            <p:cNvSpPr>
              <a:spLocks noChangeShapeType="1"/>
            </p:cNvSpPr>
            <p:nvPr/>
          </p:nvSpPr>
          <p:spPr bwMode="auto">
            <a:xfrm>
              <a:off x="101" y="40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8706" name="Line 26"/>
            <p:cNvSpPr>
              <a:spLocks noChangeShapeType="1"/>
            </p:cNvSpPr>
            <p:nvPr/>
          </p:nvSpPr>
          <p:spPr bwMode="auto">
            <a:xfrm>
              <a:off x="662" y="2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8707" name="Line 27"/>
            <p:cNvSpPr>
              <a:spLocks noChangeShapeType="1"/>
            </p:cNvSpPr>
            <p:nvPr/>
          </p:nvSpPr>
          <p:spPr bwMode="auto">
            <a:xfrm>
              <a:off x="941" y="2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8708" name="Line 28"/>
            <p:cNvSpPr>
              <a:spLocks noChangeShapeType="1"/>
            </p:cNvSpPr>
            <p:nvPr/>
          </p:nvSpPr>
          <p:spPr bwMode="auto">
            <a:xfrm>
              <a:off x="1210" y="2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31" name="Object 11">
            <a:extLst>
              <a:ext uri="{FF2B5EF4-FFF2-40B4-BE49-F238E27FC236}">
                <a16:creationId xmlns:a16="http://schemas.microsoft.com/office/drawing/2014/main" id="{DE8E55CD-D74C-46F8-AB4A-29A484E9FC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981326"/>
              </p:ext>
            </p:extLst>
          </p:nvPr>
        </p:nvGraphicFramePr>
        <p:xfrm>
          <a:off x="7253289" y="2850342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1" name="Equation" r:id="rId27" imgW="1752480" imgH="380880" progId="Equation.DSMT4">
                  <p:embed/>
                </p:oleObj>
              </mc:Choice>
              <mc:Fallback>
                <p:oleObj name="Equation" r:id="rId27" imgW="1752480" imgH="380880" progId="Equation.DSMT4">
                  <p:embed/>
                  <p:pic>
                    <p:nvPicPr>
                      <p:cNvPr id="40" name="Object 11">
                        <a:extLst>
                          <a:ext uri="{FF2B5EF4-FFF2-40B4-BE49-F238E27FC236}">
                            <a16:creationId xmlns:a16="http://schemas.microsoft.com/office/drawing/2014/main" id="{224E8CC4-62D8-4077-A75B-FCE57C49F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289" y="2850342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autoUpdateAnimBg="0"/>
      <p:bldP spid="29701" grpId="0" autoUpdateAnimBg="0"/>
      <p:bldP spid="29706" grpId="0" autoUpdateAnimBg="0"/>
      <p:bldP spid="2971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352550" y="2244725"/>
            <a:ext cx="5562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itchFamily="18" charset="0"/>
                <a:ea typeface="黑体" pitchFamily="2" charset="-122"/>
                <a:sym typeface="Symbol" pitchFamily="18" charset="2"/>
              </a:rPr>
              <a:t>当直线与平面垂直时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  <a:sym typeface="Symbol" pitchFamily="18" charset="2"/>
              </a:rPr>
              <a:t>,</a:t>
            </a:r>
            <a:r>
              <a:rPr lang="zh-CN" altLang="en-US" sz="2800" b="1">
                <a:latin typeface="Times New Roman" pitchFamily="18" charset="0"/>
                <a:ea typeface="黑体" pitchFamily="2" charset="-122"/>
                <a:sym typeface="Symbol" pitchFamily="18" charset="2"/>
              </a:rPr>
              <a:t>规定其夹角</a:t>
            </a:r>
            <a:endParaRPr lang="zh-CN" altLang="en-US" sz="2800" b="1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367631" y="1631950"/>
            <a:ext cx="6629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i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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称为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直线与平面间的夹角</a:t>
            </a:r>
            <a:r>
              <a:rPr lang="zh-CN" altLang="en-US" sz="2800" b="1" dirty="0">
                <a:solidFill>
                  <a:srgbClr val="0066CC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。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48600" y="2133600"/>
            <a:ext cx="2590800" cy="2438400"/>
            <a:chOff x="0" y="0"/>
            <a:chExt cx="1632" cy="1536"/>
          </a:xfrm>
        </p:grpSpPr>
        <p:graphicFrame>
          <p:nvGraphicFramePr>
            <p:cNvPr id="29707" name="Object 5"/>
            <p:cNvGraphicFramePr>
              <a:graphicFrameLocks noChangeAspect="1"/>
            </p:cNvGraphicFramePr>
            <p:nvPr/>
          </p:nvGraphicFramePr>
          <p:xfrm>
            <a:off x="1179" y="0"/>
            <a:ext cx="213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88" r:id="rId3" imgW="140565" imgH="166064" progId="Equation.3">
                    <p:embed/>
                  </p:oleObj>
                </mc:Choice>
                <mc:Fallback>
                  <p:oleObj r:id="rId3" imgW="140565" imgH="166064" progId="Equation.3">
                    <p:embed/>
                    <p:pic>
                      <p:nvPicPr>
                        <p:cNvPr id="2970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0"/>
                          <a:ext cx="213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96"/>
              <a:ext cx="1632" cy="1440"/>
              <a:chOff x="0" y="0"/>
              <a:chExt cx="1632" cy="1440"/>
            </a:xfrm>
          </p:grpSpPr>
          <p:sp>
            <p:nvSpPr>
              <p:cNvPr id="29748" name="Line 7"/>
              <p:cNvSpPr>
                <a:spLocks noChangeShapeType="1"/>
              </p:cNvSpPr>
              <p:nvPr/>
            </p:nvSpPr>
            <p:spPr bwMode="auto">
              <a:xfrm flipH="1">
                <a:off x="48" y="720"/>
                <a:ext cx="576" cy="72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9" name="AutoShape 8"/>
              <p:cNvSpPr>
                <a:spLocks noChangeArrowheads="1"/>
              </p:cNvSpPr>
              <p:nvPr/>
            </p:nvSpPr>
            <p:spPr bwMode="auto">
              <a:xfrm>
                <a:off x="0" y="480"/>
                <a:ext cx="1632" cy="624"/>
              </a:xfrm>
              <a:prstGeom prst="parallelogram">
                <a:avLst>
                  <a:gd name="adj" fmla="val 65385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0" name="Line 9"/>
              <p:cNvSpPr>
                <a:spLocks noChangeShapeType="1"/>
              </p:cNvSpPr>
              <p:nvPr/>
            </p:nvSpPr>
            <p:spPr bwMode="auto">
              <a:xfrm flipH="1">
                <a:off x="624" y="0"/>
                <a:ext cx="576" cy="72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1" name="Text Box 10"/>
              <p:cNvSpPr txBox="1">
                <a:spLocks noChangeArrowheads="1"/>
              </p:cNvSpPr>
              <p:nvPr/>
            </p:nvSpPr>
            <p:spPr bwMode="auto">
              <a:xfrm>
                <a:off x="912" y="797"/>
                <a:ext cx="5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zh-CN" sz="2800">
                    <a:latin typeface="Times New Roman" pitchFamily="18" charset="0"/>
                    <a:ea typeface="楷体_GB2312" pitchFamily="49" charset="-122"/>
                    <a:sym typeface="Symbol" pitchFamily="18" charset="2"/>
                  </a:rPr>
                  <a:t></a:t>
                </a:r>
              </a:p>
            </p:txBody>
          </p:sp>
        </p:grpSp>
      </p:grpSp>
      <p:sp>
        <p:nvSpPr>
          <p:cNvPr id="29711" name="Rectangle 11"/>
          <p:cNvSpPr>
            <a:spLocks noGrp="1" noChangeArrowheads="1"/>
          </p:cNvSpPr>
          <p:nvPr>
            <p:ph type="title"/>
          </p:nvPr>
        </p:nvSpPr>
        <p:spPr>
          <a:xfrm>
            <a:off x="1423988" y="389911"/>
            <a:ext cx="3810000" cy="533400"/>
          </a:xfrm>
        </p:spPr>
        <p:txBody>
          <a:bodyPr/>
          <a:lstStyle/>
          <a:p>
            <a:pPr algn="l" eaLnBrk="1" hangingPunct="1"/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直线与平面的夹角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1367631" y="1047748"/>
            <a:ext cx="449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当直线与平面不垂直时</a:t>
            </a:r>
            <a:r>
              <a:rPr lang="zh-CN" altLang="zh-CN" sz="2800" b="1" dirty="0">
                <a:latin typeface="Times New Roman" pitchFamily="18" charset="0"/>
                <a:ea typeface="黑体" pitchFamily="2" charset="-122"/>
              </a:rPr>
              <a:t>,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1319661" y="2935742"/>
            <a:ext cx="4083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设直线 </a:t>
            </a:r>
            <a:r>
              <a:rPr lang="zh-CN" altLang="zh-CN" sz="2800" b="1" i="1" dirty="0">
                <a:latin typeface="Times New Roman" pitchFamily="18" charset="0"/>
                <a:ea typeface="黑体" pitchFamily="2" charset="-122"/>
              </a:rPr>
              <a:t>L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的方向向量为   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1367631" y="3588804"/>
            <a:ext cx="3397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平面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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的法向量为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1399101" y="4300583"/>
            <a:ext cx="449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则直线与平面夹角</a:t>
            </a:r>
            <a:r>
              <a:rPr lang="zh-CN" altLang="en-US" sz="2800" b="1" i="1" dirty="0">
                <a:latin typeface="Times New Roman" pitchFamily="18" charset="0"/>
                <a:ea typeface="黑体" pitchFamily="2" charset="-122"/>
              </a:rPr>
              <a:t> </a:t>
            </a:r>
            <a:r>
              <a:rPr lang="zh-CN" altLang="en-US" sz="2800" b="1" i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 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sym typeface="Symbol" pitchFamily="18" charset="2"/>
              </a:rPr>
              <a:t>满足</a:t>
            </a:r>
          </a:p>
        </p:txBody>
      </p:sp>
      <p:graphicFrame>
        <p:nvGraphicFramePr>
          <p:cNvPr id="30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117914"/>
              </p:ext>
            </p:extLst>
          </p:nvPr>
        </p:nvGraphicFramePr>
        <p:xfrm>
          <a:off x="6616700" y="2135187"/>
          <a:ext cx="6985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9" r:id="rId5" imgW="699424" imgH="661291" progId="Equation.3">
                  <p:embed/>
                </p:oleObj>
              </mc:Choice>
              <mc:Fallback>
                <p:oleObj r:id="rId5" imgW="699424" imgH="661291" progId="Equation.3">
                  <p:embed/>
                  <p:pic>
                    <p:nvPicPr>
                      <p:cNvPr id="307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2135187"/>
                        <a:ext cx="6985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Line 17"/>
          <p:cNvSpPr>
            <a:spLocks noChangeShapeType="1"/>
          </p:cNvSpPr>
          <p:nvPr/>
        </p:nvSpPr>
        <p:spPr bwMode="auto">
          <a:xfrm flipV="1">
            <a:off x="8305800" y="3124200"/>
            <a:ext cx="1371600" cy="533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8" name="Arc 18"/>
          <p:cNvSpPr>
            <a:spLocks/>
          </p:cNvSpPr>
          <p:nvPr/>
        </p:nvSpPr>
        <p:spPr bwMode="auto">
          <a:xfrm rot="3385627">
            <a:off x="8870156" y="3118644"/>
            <a:ext cx="192088" cy="457200"/>
          </a:xfrm>
          <a:custGeom>
            <a:avLst/>
            <a:gdLst>
              <a:gd name="T0" fmla="*/ 0 w 15466"/>
              <a:gd name="T1" fmla="*/ 21479783 h 21600"/>
              <a:gd name="T2" fmla="*/ 368016072 w 15466"/>
              <a:gd name="T3" fmla="*/ 922549680 h 21600"/>
              <a:gd name="T4" fmla="*/ 51063811 w 15466"/>
              <a:gd name="T5" fmla="*/ 2147483647 h 21600"/>
              <a:gd name="T6" fmla="*/ 0 60000 65536"/>
              <a:gd name="T7" fmla="*/ 0 60000 65536"/>
              <a:gd name="T8" fmla="*/ 0 60000 65536"/>
              <a:gd name="T9" fmla="*/ 0 w 15466"/>
              <a:gd name="T10" fmla="*/ 0 h 21600"/>
              <a:gd name="T11" fmla="*/ 15466 w 1546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66" h="21600" fill="none" extrusionOk="0">
                <a:moveTo>
                  <a:pt x="-1" y="106"/>
                </a:moveTo>
                <a:cubicBezTo>
                  <a:pt x="713" y="35"/>
                  <a:pt x="1429" y="-1"/>
                  <a:pt x="2146" y="0"/>
                </a:cubicBezTo>
                <a:cubicBezTo>
                  <a:pt x="6974" y="0"/>
                  <a:pt x="11664" y="1618"/>
                  <a:pt x="15466" y="4595"/>
                </a:cubicBezTo>
              </a:path>
              <a:path w="15466" h="21600" stroke="0" extrusionOk="0">
                <a:moveTo>
                  <a:pt x="-1" y="106"/>
                </a:moveTo>
                <a:cubicBezTo>
                  <a:pt x="713" y="35"/>
                  <a:pt x="1429" y="-1"/>
                  <a:pt x="2146" y="0"/>
                </a:cubicBezTo>
                <a:cubicBezTo>
                  <a:pt x="6974" y="0"/>
                  <a:pt x="11664" y="1618"/>
                  <a:pt x="15466" y="4595"/>
                </a:cubicBezTo>
                <a:lnTo>
                  <a:pt x="2146" y="2160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 flipV="1">
            <a:off x="8839200" y="2590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0" name="Line 20"/>
          <p:cNvSpPr>
            <a:spLocks noChangeShapeType="1"/>
          </p:cNvSpPr>
          <p:nvPr/>
        </p:nvSpPr>
        <p:spPr bwMode="auto">
          <a:xfrm flipV="1">
            <a:off x="8839200" y="2743200"/>
            <a:ext cx="5334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741" name="Object 21"/>
          <p:cNvGraphicFramePr>
            <a:graphicFrameLocks noChangeAspect="1"/>
          </p:cNvGraphicFramePr>
          <p:nvPr/>
        </p:nvGraphicFramePr>
        <p:xfrm>
          <a:off x="9144000" y="3038476"/>
          <a:ext cx="2619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0" r:id="rId7" imgW="267365" imgH="318231" progId="Equation.3">
                  <p:embed/>
                </p:oleObj>
              </mc:Choice>
              <mc:Fallback>
                <p:oleObj r:id="rId7" imgW="267365" imgH="318231" progId="Equation.3">
                  <p:embed/>
                  <p:pic>
                    <p:nvPicPr>
                      <p:cNvPr id="3074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3038476"/>
                        <a:ext cx="261938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961473"/>
              </p:ext>
            </p:extLst>
          </p:nvPr>
        </p:nvGraphicFramePr>
        <p:xfrm>
          <a:off x="5874581" y="4953505"/>
          <a:ext cx="48879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1" r:id="rId9" imgW="4889817" imgH="1016317" progId="Equation.3">
                  <p:embed/>
                </p:oleObj>
              </mc:Choice>
              <mc:Fallback>
                <p:oleObj r:id="rId9" imgW="4889817" imgH="1016317" progId="Equation.3">
                  <p:embed/>
                  <p:pic>
                    <p:nvPicPr>
                      <p:cNvPr id="307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4581" y="4953505"/>
                        <a:ext cx="488791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5183981" y="1049336"/>
            <a:ext cx="64342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>
                <a:latin typeface="Times New Roman" pitchFamily="18" charset="0"/>
                <a:ea typeface="黑体" pitchFamily="2" charset="-122"/>
              </a:rPr>
              <a:t>直线和它在平面上的投影直线所夹锐角</a:t>
            </a:r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1530146" y="4781596"/>
            <a:ext cx="2741612" cy="833437"/>
            <a:chOff x="0" y="0"/>
            <a:chExt cx="1727" cy="525"/>
          </a:xfrm>
        </p:grpSpPr>
        <p:sp>
          <p:nvSpPr>
            <p:cNvPr id="29742" name="Text Box 31"/>
            <p:cNvSpPr txBox="1">
              <a:spLocks noChangeArrowheads="1"/>
            </p:cNvSpPr>
            <p:nvPr/>
          </p:nvSpPr>
          <p:spPr bwMode="auto">
            <a:xfrm>
              <a:off x="1211" y="0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3200">
                  <a:latin typeface="楷体_GB2312" pitchFamily="49" charset="-122"/>
                  <a:ea typeface="楷体_GB2312" pitchFamily="49" charset="-122"/>
                </a:rPr>
                <a:t>︿</a:t>
              </a:r>
            </a:p>
          </p:txBody>
        </p:sp>
        <p:graphicFrame>
          <p:nvGraphicFramePr>
            <p:cNvPr id="29704" name="Object 32"/>
            <p:cNvGraphicFramePr>
              <a:graphicFrameLocks noChangeAspect="1"/>
            </p:cNvGraphicFramePr>
            <p:nvPr/>
          </p:nvGraphicFramePr>
          <p:xfrm>
            <a:off x="0" y="269"/>
            <a:ext cx="172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2" r:id="rId11" imgW="2741138" imgH="406365" progId="Equation.3">
                    <p:embed/>
                  </p:oleObj>
                </mc:Choice>
                <mc:Fallback>
                  <p:oleObj r:id="rId11" imgW="2741138" imgH="406365" progId="Equation.3">
                    <p:embed/>
                    <p:pic>
                      <p:nvPicPr>
                        <p:cNvPr id="29704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69"/>
                          <a:ext cx="1727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3" name="Line 33"/>
            <p:cNvSpPr>
              <a:spLocks noChangeShapeType="1"/>
            </p:cNvSpPr>
            <p:nvPr/>
          </p:nvSpPr>
          <p:spPr bwMode="auto">
            <a:xfrm>
              <a:off x="1158" y="269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9744" name="Line 34"/>
            <p:cNvSpPr>
              <a:spLocks noChangeShapeType="1"/>
            </p:cNvSpPr>
            <p:nvPr/>
          </p:nvSpPr>
          <p:spPr bwMode="auto">
            <a:xfrm>
              <a:off x="1439" y="269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4441031" y="4982164"/>
            <a:ext cx="1371600" cy="1003300"/>
            <a:chOff x="0" y="0"/>
            <a:chExt cx="864" cy="632"/>
          </a:xfrm>
        </p:grpSpPr>
        <p:graphicFrame>
          <p:nvGraphicFramePr>
            <p:cNvPr id="29703" name="Object 36"/>
            <p:cNvGraphicFramePr>
              <a:graphicFrameLocks noChangeAspect="1"/>
            </p:cNvGraphicFramePr>
            <p:nvPr/>
          </p:nvGraphicFramePr>
          <p:xfrm>
            <a:off x="0" y="0"/>
            <a:ext cx="864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3" r:id="rId13" imgW="1373109" imgH="1004489" progId="Equation.3">
                    <p:embed/>
                  </p:oleObj>
                </mc:Choice>
                <mc:Fallback>
                  <p:oleObj r:id="rId13" imgW="1373109" imgH="1004489" progId="Equation.3">
                    <p:embed/>
                    <p:pic>
                      <p:nvPicPr>
                        <p:cNvPr id="29703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864" cy="6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8" name="Line 37"/>
            <p:cNvSpPr>
              <a:spLocks noChangeShapeType="1"/>
            </p:cNvSpPr>
            <p:nvPr/>
          </p:nvSpPr>
          <p:spPr bwMode="auto">
            <a:xfrm>
              <a:off x="304" y="31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9739" name="Line 38"/>
            <p:cNvSpPr>
              <a:spLocks noChangeShapeType="1"/>
            </p:cNvSpPr>
            <p:nvPr/>
          </p:nvSpPr>
          <p:spPr bwMode="auto">
            <a:xfrm>
              <a:off x="592" y="31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9740" name="Line 39"/>
            <p:cNvSpPr>
              <a:spLocks noChangeShapeType="1"/>
            </p:cNvSpPr>
            <p:nvPr/>
          </p:nvSpPr>
          <p:spPr bwMode="auto">
            <a:xfrm>
              <a:off x="289" y="367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9741" name="Line 40"/>
            <p:cNvSpPr>
              <a:spLocks noChangeShapeType="1"/>
            </p:cNvSpPr>
            <p:nvPr/>
          </p:nvSpPr>
          <p:spPr bwMode="auto">
            <a:xfrm>
              <a:off x="592" y="367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9144001" y="2438400"/>
            <a:ext cx="252413" cy="304800"/>
            <a:chOff x="0" y="0"/>
            <a:chExt cx="159" cy="192"/>
          </a:xfrm>
        </p:grpSpPr>
        <p:graphicFrame>
          <p:nvGraphicFramePr>
            <p:cNvPr id="29702" name="Object 42"/>
            <p:cNvGraphicFramePr>
              <a:graphicFrameLocks noChangeAspect="1"/>
            </p:cNvGraphicFramePr>
            <p:nvPr/>
          </p:nvGraphicFramePr>
          <p:xfrm>
            <a:off x="0" y="41"/>
            <a:ext cx="12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4" r:id="rId15" imgW="191231" imgH="242142" progId="Equation.3">
                    <p:embed/>
                  </p:oleObj>
                </mc:Choice>
                <mc:Fallback>
                  <p:oleObj r:id="rId15" imgW="191231" imgH="242142" progId="Equation.3">
                    <p:embed/>
                    <p:pic>
                      <p:nvPicPr>
                        <p:cNvPr id="29702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1"/>
                          <a:ext cx="120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7" name="Line 43"/>
            <p:cNvSpPr>
              <a:spLocks noChangeShapeType="1"/>
            </p:cNvSpPr>
            <p:nvPr/>
          </p:nvSpPr>
          <p:spPr bwMode="auto">
            <a:xfrm>
              <a:off x="0" y="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8763001" y="2286000"/>
            <a:ext cx="252413" cy="304800"/>
            <a:chOff x="0" y="0"/>
            <a:chExt cx="159" cy="192"/>
          </a:xfrm>
        </p:grpSpPr>
        <p:graphicFrame>
          <p:nvGraphicFramePr>
            <p:cNvPr id="29701" name="Object 45"/>
            <p:cNvGraphicFramePr>
              <a:graphicFrameLocks noChangeAspect="1"/>
            </p:cNvGraphicFramePr>
            <p:nvPr/>
          </p:nvGraphicFramePr>
          <p:xfrm>
            <a:off x="1" y="40"/>
            <a:ext cx="143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5" r:id="rId17" imgW="229714" imgH="242458" progId="Equation.3">
                    <p:embed/>
                  </p:oleObj>
                </mc:Choice>
                <mc:Fallback>
                  <p:oleObj r:id="rId17" imgW="229714" imgH="242458" progId="Equation.3">
                    <p:embed/>
                    <p:pic>
                      <p:nvPicPr>
                        <p:cNvPr id="2970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" y="40"/>
                          <a:ext cx="143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6" name="Line 46"/>
            <p:cNvSpPr>
              <a:spLocks noChangeShapeType="1"/>
            </p:cNvSpPr>
            <p:nvPr/>
          </p:nvSpPr>
          <p:spPr bwMode="auto">
            <a:xfrm>
              <a:off x="0" y="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47" name="Object 11">
            <a:extLst>
              <a:ext uri="{FF2B5EF4-FFF2-40B4-BE49-F238E27FC236}">
                <a16:creationId xmlns:a16="http://schemas.microsoft.com/office/drawing/2014/main" id="{E7C138B8-805D-4973-8383-F8632DF9B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603139"/>
              </p:ext>
            </p:extLst>
          </p:nvPr>
        </p:nvGraphicFramePr>
        <p:xfrm>
          <a:off x="5126831" y="2965924"/>
          <a:ext cx="1803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6" name="Equation" r:id="rId19" imgW="1803240" imgH="507960" progId="Equation.DSMT4">
                  <p:embed/>
                </p:oleObj>
              </mc:Choice>
              <mc:Fallback>
                <p:oleObj name="Equation" r:id="rId19" imgW="1803240" imgH="507960" progId="Equation.DSMT4">
                  <p:embed/>
                  <p:pic>
                    <p:nvPicPr>
                      <p:cNvPr id="40" name="Object 11">
                        <a:extLst>
                          <a:ext uri="{FF2B5EF4-FFF2-40B4-BE49-F238E27FC236}">
                            <a16:creationId xmlns:a16="http://schemas.microsoft.com/office/drawing/2014/main" id="{224E8CC4-62D8-4077-A75B-FCE57C49F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831" y="2965924"/>
                        <a:ext cx="1803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1">
            <a:extLst>
              <a:ext uri="{FF2B5EF4-FFF2-40B4-BE49-F238E27FC236}">
                <a16:creationId xmlns:a16="http://schemas.microsoft.com/office/drawing/2014/main" id="{EF49EE7D-D03E-4637-AF8E-824614806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355176"/>
              </p:ext>
            </p:extLst>
          </p:nvPr>
        </p:nvGraphicFramePr>
        <p:xfrm>
          <a:off x="4443413" y="3610664"/>
          <a:ext cx="1892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7" name="Equation" r:id="rId21" imgW="1892160" imgH="495000" progId="Equation.DSMT4">
                  <p:embed/>
                </p:oleObj>
              </mc:Choice>
              <mc:Fallback>
                <p:oleObj name="Equation" r:id="rId21" imgW="1892160" imgH="495000" progId="Equation.DSMT4">
                  <p:embed/>
                  <p:pic>
                    <p:nvPicPr>
                      <p:cNvPr id="47" name="Object 11">
                        <a:extLst>
                          <a:ext uri="{FF2B5EF4-FFF2-40B4-BE49-F238E27FC236}">
                            <a16:creationId xmlns:a16="http://schemas.microsoft.com/office/drawing/2014/main" id="{E7C138B8-805D-4973-8383-F8632DF9B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3610664"/>
                        <a:ext cx="1892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3" grpId="0" autoUpdateAnimBg="0"/>
      <p:bldP spid="30732" grpId="0" autoUpdateAnimBg="0"/>
      <p:bldP spid="30733" grpId="0" autoUpdateAnimBg="0"/>
      <p:bldP spid="30734" grpId="0" autoUpdateAnimBg="0"/>
      <p:bldP spid="30735" grpId="0" autoUpdateAnimBg="0"/>
      <p:bldP spid="30737" grpId="0" animBg="1"/>
      <p:bldP spid="30738" grpId="0" animBg="1"/>
      <p:bldP spid="30739" grpId="0" animBg="1"/>
      <p:bldP spid="30740" grpId="0" animBg="1"/>
      <p:bldP spid="3074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3" name="Text Box 2"/>
          <p:cNvSpPr txBox="1">
            <a:spLocks noChangeArrowheads="1"/>
          </p:cNvSpPr>
          <p:nvPr/>
        </p:nvSpPr>
        <p:spPr bwMode="auto">
          <a:xfrm>
            <a:off x="1327150" y="468855"/>
            <a:ext cx="182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特别有</a:t>
            </a:r>
            <a:r>
              <a:rPr lang="zh-CN" altLang="zh-CN" sz="2800" b="1" dirty="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:</a:t>
            </a:r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721433"/>
              </p:ext>
            </p:extLst>
          </p:nvPr>
        </p:nvGraphicFramePr>
        <p:xfrm>
          <a:off x="1390650" y="1430450"/>
          <a:ext cx="15192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2" r:id="rId3" imgW="1510306" imgH="406365" progId="Equation.3">
                  <p:embed/>
                </p:oleObj>
              </mc:Choice>
              <mc:Fallback>
                <p:oleObj r:id="rId3" imgW="1510306" imgH="406365" progId="Equation.3">
                  <p:embed/>
                  <p:pic>
                    <p:nvPicPr>
                      <p:cNvPr id="317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1430450"/>
                        <a:ext cx="1519238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482394"/>
              </p:ext>
            </p:extLst>
          </p:nvPr>
        </p:nvGraphicFramePr>
        <p:xfrm>
          <a:off x="1397000" y="2289287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3" r:id="rId5" imgW="1448746" imgH="406893" progId="Equation.3">
                  <p:embed/>
                </p:oleObj>
              </mc:Choice>
              <mc:Fallback>
                <p:oleObj r:id="rId5" imgW="1448746" imgH="406893" progId="Equation.3">
                  <p:embed/>
                  <p:pic>
                    <p:nvPicPr>
                      <p:cNvPr id="31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2289287"/>
                        <a:ext cx="1447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AutoShape 5"/>
          <p:cNvSpPr>
            <a:spLocks noChangeArrowheads="1"/>
          </p:cNvSpPr>
          <p:nvPr/>
        </p:nvSpPr>
        <p:spPr bwMode="auto">
          <a:xfrm>
            <a:off x="2965450" y="1552688"/>
            <a:ext cx="914400" cy="144463"/>
          </a:xfrm>
          <a:prstGeom prst="leftRightArrow">
            <a:avLst>
              <a:gd name="adj1" fmla="val 50000"/>
              <a:gd name="adj2" fmla="val 12659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0" name="AutoShape 6"/>
          <p:cNvSpPr>
            <a:spLocks noChangeArrowheads="1"/>
          </p:cNvSpPr>
          <p:nvPr/>
        </p:nvSpPr>
        <p:spPr bwMode="auto">
          <a:xfrm>
            <a:off x="5022850" y="1552688"/>
            <a:ext cx="914400" cy="144463"/>
          </a:xfrm>
          <a:prstGeom prst="leftRightArrow">
            <a:avLst>
              <a:gd name="adj1" fmla="val 50000"/>
              <a:gd name="adj2" fmla="val 12659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1" name="AutoShape 7"/>
          <p:cNvSpPr>
            <a:spLocks noChangeArrowheads="1"/>
          </p:cNvSpPr>
          <p:nvPr/>
        </p:nvSpPr>
        <p:spPr bwMode="auto">
          <a:xfrm>
            <a:off x="2965450" y="2378188"/>
            <a:ext cx="914400" cy="144463"/>
          </a:xfrm>
          <a:prstGeom prst="leftRightArrow">
            <a:avLst>
              <a:gd name="adj1" fmla="val 50000"/>
              <a:gd name="adj2" fmla="val 12659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2" name="AutoShape 8"/>
          <p:cNvSpPr>
            <a:spLocks noChangeArrowheads="1"/>
          </p:cNvSpPr>
          <p:nvPr/>
        </p:nvSpPr>
        <p:spPr bwMode="auto">
          <a:xfrm>
            <a:off x="5022850" y="2378188"/>
            <a:ext cx="914400" cy="144463"/>
          </a:xfrm>
          <a:prstGeom prst="leftRightArrow">
            <a:avLst>
              <a:gd name="adj1" fmla="val 50000"/>
              <a:gd name="adj2" fmla="val 12659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115836"/>
              </p:ext>
            </p:extLst>
          </p:nvPr>
        </p:nvGraphicFramePr>
        <p:xfrm>
          <a:off x="5981701" y="2284525"/>
          <a:ext cx="30210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4" r:id="rId7" imgW="3020295" imgH="406365" progId="Equation.3">
                  <p:embed/>
                </p:oleObj>
              </mc:Choice>
              <mc:Fallback>
                <p:oleObj r:id="rId7" imgW="3020295" imgH="406365" progId="Equation.3">
                  <p:embed/>
                  <p:pic>
                    <p:nvPicPr>
                      <p:cNvPr id="317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1" y="2284525"/>
                        <a:ext cx="30210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238098"/>
              </p:ext>
            </p:extLst>
          </p:nvPr>
        </p:nvGraphicFramePr>
        <p:xfrm>
          <a:off x="6096000" y="1139937"/>
          <a:ext cx="1765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5" r:id="rId9" imgW="1765617" imgH="965517" progId="Equation.3">
                  <p:embed/>
                </p:oleObj>
              </mc:Choice>
              <mc:Fallback>
                <p:oleObj r:id="rId9" imgW="1765617" imgH="965517" progId="Equation.3">
                  <p:embed/>
                  <p:pic>
                    <p:nvPicPr>
                      <p:cNvPr id="317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139937"/>
                        <a:ext cx="17653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084638" y="1430450"/>
            <a:ext cx="741362" cy="330200"/>
            <a:chOff x="0" y="0"/>
            <a:chExt cx="467" cy="208"/>
          </a:xfrm>
        </p:grpSpPr>
        <p:graphicFrame>
          <p:nvGraphicFramePr>
            <p:cNvPr id="30732" name="Object 12"/>
            <p:cNvGraphicFramePr>
              <a:graphicFrameLocks noChangeAspect="1"/>
            </p:cNvGraphicFramePr>
            <p:nvPr/>
          </p:nvGraphicFramePr>
          <p:xfrm>
            <a:off x="3" y="0"/>
            <a:ext cx="46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6" r:id="rId11" imgW="737557" imgH="330804" progId="Equation.3">
                    <p:embed/>
                  </p:oleObj>
                </mc:Choice>
                <mc:Fallback>
                  <p:oleObj r:id="rId11" imgW="737557" imgH="330804" progId="Equation.3">
                    <p:embed/>
                    <p:pic>
                      <p:nvPicPr>
                        <p:cNvPr id="3073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" y="0"/>
                          <a:ext cx="464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7" name="Line 13"/>
            <p:cNvSpPr>
              <a:spLocks noChangeShapeType="1"/>
            </p:cNvSpPr>
            <p:nvPr/>
          </p:nvSpPr>
          <p:spPr bwMode="auto">
            <a:xfrm>
              <a:off x="0" y="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0768" name="Line 14"/>
            <p:cNvSpPr>
              <a:spLocks noChangeShapeType="1"/>
            </p:cNvSpPr>
            <p:nvPr/>
          </p:nvSpPr>
          <p:spPr bwMode="auto">
            <a:xfrm>
              <a:off x="303" y="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040189" y="2232138"/>
            <a:ext cx="777875" cy="411163"/>
            <a:chOff x="0" y="0"/>
            <a:chExt cx="490" cy="259"/>
          </a:xfrm>
        </p:grpSpPr>
        <p:graphicFrame>
          <p:nvGraphicFramePr>
            <p:cNvPr id="30731" name="Object 16"/>
            <p:cNvGraphicFramePr>
              <a:graphicFrameLocks noChangeAspect="1"/>
            </p:cNvGraphicFramePr>
            <p:nvPr/>
          </p:nvGraphicFramePr>
          <p:xfrm>
            <a:off x="0" y="0"/>
            <a:ext cx="48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7" r:id="rId13" imgW="762648" imgH="406893" progId="Equation.3">
                    <p:embed/>
                  </p:oleObj>
                </mc:Choice>
                <mc:Fallback>
                  <p:oleObj r:id="rId13" imgW="762648" imgH="406893" progId="Equation.3">
                    <p:embed/>
                    <p:pic>
                      <p:nvPicPr>
                        <p:cNvPr id="3073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87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5" name="Line 17"/>
            <p:cNvSpPr>
              <a:spLocks noChangeShapeType="1"/>
            </p:cNvSpPr>
            <p:nvPr/>
          </p:nvSpPr>
          <p:spPr bwMode="auto">
            <a:xfrm>
              <a:off x="13" y="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0766" name="Line 18"/>
            <p:cNvSpPr>
              <a:spLocks noChangeShapeType="1"/>
            </p:cNvSpPr>
            <p:nvPr/>
          </p:nvSpPr>
          <p:spPr bwMode="auto">
            <a:xfrm>
              <a:off x="331" y="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nimBg="1"/>
      <p:bldP spid="31750" grpId="0" animBg="1"/>
      <p:bldP spid="31751" grpId="0" animBg="1"/>
      <p:bldP spid="317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D1DD536-0669-4F8A-81DD-9DD6C78FA0C1}"/>
              </a:ext>
            </a:extLst>
          </p:cNvPr>
          <p:cNvGrpSpPr/>
          <p:nvPr/>
        </p:nvGrpSpPr>
        <p:grpSpPr>
          <a:xfrm>
            <a:off x="1181072" y="456425"/>
            <a:ext cx="10451900" cy="959407"/>
            <a:chOff x="2095472" y="423305"/>
            <a:chExt cx="10451900" cy="959407"/>
          </a:xfrm>
        </p:grpSpPr>
        <p:sp>
          <p:nvSpPr>
            <p:cNvPr id="3" name="TextBox 2"/>
            <p:cNvSpPr txBox="1"/>
            <p:nvPr/>
          </p:nvSpPr>
          <p:spPr>
            <a:xfrm>
              <a:off x="2095472" y="428605"/>
              <a:ext cx="1045190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例</a:t>
              </a:r>
              <a:r>
                <a:rPr lang="en-US" altLang="zh-CN" sz="2800" b="1" dirty="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4</a:t>
              </a:r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：由与</a:t>
              </a:r>
              <a:r>
                <a:rPr lang="en-US" altLang="zh-CN" sz="2800" b="1" i="1" dirty="0" err="1">
                  <a:ea typeface="黑体" pitchFamily="49" charset="-122"/>
                </a:rPr>
                <a:t>xoy</a:t>
              </a:r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面成    角，且过点         的直线所成的轨迹。</a:t>
              </a:r>
            </a:p>
            <a:p>
              <a:endParaRPr lang="en-US" altLang="zh-CN" sz="2800" b="1" dirty="0">
                <a:latin typeface="黑体" pitchFamily="49" charset="-122"/>
                <a:ea typeface="黑体" pitchFamily="49" charset="-122"/>
              </a:endParaRPr>
            </a:p>
          </p:txBody>
        </p:sp>
        <p:graphicFrame>
          <p:nvGraphicFramePr>
            <p:cNvPr id="5325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3018839"/>
                </p:ext>
              </p:extLst>
            </p:nvPr>
          </p:nvGraphicFramePr>
          <p:xfrm>
            <a:off x="5122192" y="423305"/>
            <a:ext cx="57467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86" name="Equation" r:id="rId3" imgW="241200" imgH="203040" progId="Equation.DSMT4">
                    <p:embed/>
                  </p:oleObj>
                </mc:Choice>
                <mc:Fallback>
                  <p:oleObj name="Equation" r:id="rId3" imgW="241200" imgH="203040" progId="Equation.DSMT4">
                    <p:embed/>
                    <p:pic>
                      <p:nvPicPr>
                        <p:cNvPr id="5325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2192" y="423305"/>
                          <a:ext cx="574675" cy="484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5749294"/>
                </p:ext>
              </p:extLst>
            </p:nvPr>
          </p:nvGraphicFramePr>
          <p:xfrm>
            <a:off x="7542410" y="450671"/>
            <a:ext cx="1573212" cy="544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87" name="Equation" r:id="rId5" imgW="660240" imgH="228600" progId="Equation.DSMT4">
                    <p:embed/>
                  </p:oleObj>
                </mc:Choice>
                <mc:Fallback>
                  <p:oleObj name="Equation" r:id="rId5" imgW="660240" imgH="228600" progId="Equation.DSMT4">
                    <p:embed/>
                    <p:pic>
                      <p:nvPicPr>
                        <p:cNvPr id="2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2410" y="450671"/>
                          <a:ext cx="1573212" cy="544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577685" y="2063370"/>
            <a:ext cx="53340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92A9748-A666-4AB8-841D-0E35C4778892}"/>
              </a:ext>
            </a:extLst>
          </p:cNvPr>
          <p:cNvGrpSpPr/>
          <p:nvPr/>
        </p:nvGrpSpPr>
        <p:grpSpPr>
          <a:xfrm>
            <a:off x="1181072" y="1177233"/>
            <a:ext cx="6503703" cy="585799"/>
            <a:chOff x="2166910" y="1500175"/>
            <a:chExt cx="6503703" cy="585799"/>
          </a:xfrm>
        </p:grpSpPr>
        <p:sp>
          <p:nvSpPr>
            <p:cNvPr id="28" name="TextBox 27"/>
            <p:cNvSpPr txBox="1"/>
            <p:nvPr/>
          </p:nvSpPr>
          <p:spPr>
            <a:xfrm>
              <a:off x="2166910" y="1500175"/>
              <a:ext cx="65037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解：设         为轨迹上任意一点，则</a:t>
              </a:r>
            </a:p>
          </p:txBody>
        </p:sp>
        <p:graphicFrame>
          <p:nvGraphicFramePr>
            <p:cNvPr id="2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484721"/>
                </p:ext>
              </p:extLst>
            </p:nvPr>
          </p:nvGraphicFramePr>
          <p:xfrm>
            <a:off x="3381376" y="1601786"/>
            <a:ext cx="1573213" cy="48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88" name="Equation" r:id="rId8" imgW="660240" imgH="203040" progId="Equation.DSMT4">
                    <p:embed/>
                  </p:oleObj>
                </mc:Choice>
                <mc:Fallback>
                  <p:oleObj name="Equation" r:id="rId8" imgW="660240" imgH="203040" progId="Equation.DSMT4">
                    <p:embed/>
                    <p:pic>
                      <p:nvPicPr>
                        <p:cNvPr id="2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1376" y="1601786"/>
                          <a:ext cx="1573213" cy="484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509368"/>
              </p:ext>
            </p:extLst>
          </p:nvPr>
        </p:nvGraphicFramePr>
        <p:xfrm>
          <a:off x="2801267" y="1902751"/>
          <a:ext cx="28130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" name="Equation" r:id="rId10" imgW="1180800" imgH="253800" progId="Equation.DSMT4">
                  <p:embed/>
                </p:oleObj>
              </mc:Choice>
              <mc:Fallback>
                <p:oleObj name="Equation" r:id="rId10" imgW="1180800" imgH="253800" progId="Equation.DSMT4">
                  <p:embed/>
                  <p:pic>
                    <p:nvPicPr>
                      <p:cNvPr id="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267" y="1902751"/>
                        <a:ext cx="2813050" cy="60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315654" y="2536138"/>
            <a:ext cx="2892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err="1">
                <a:latin typeface="+mj-lt"/>
                <a:ea typeface="黑体" pitchFamily="49" charset="-122"/>
              </a:rPr>
              <a:t>xoy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面的法向量为</a:t>
            </a:r>
          </a:p>
        </p:txBody>
      </p:sp>
      <p:graphicFrame>
        <p:nvGraphicFramePr>
          <p:cNvPr id="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808355"/>
              </p:ext>
            </p:extLst>
          </p:nvPr>
        </p:nvGraphicFramePr>
        <p:xfrm>
          <a:off x="4175618" y="2536138"/>
          <a:ext cx="16637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0" name="Equation" r:id="rId12" imgW="698400" imgH="241200" progId="Equation.DSMT4">
                  <p:embed/>
                </p:oleObj>
              </mc:Choice>
              <mc:Fallback>
                <p:oleObj name="Equation" r:id="rId12" imgW="698400" imgH="241200" progId="Equation.DSMT4">
                  <p:embed/>
                  <p:pic>
                    <p:nvPicPr>
                      <p:cNvPr id="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618" y="2536138"/>
                        <a:ext cx="16637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212866" y="3393411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则</a:t>
            </a:r>
          </a:p>
        </p:txBody>
      </p:sp>
      <p:graphicFrame>
        <p:nvGraphicFramePr>
          <p:cNvPr id="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416053"/>
              </p:ext>
            </p:extLst>
          </p:nvPr>
        </p:nvGraphicFramePr>
        <p:xfrm>
          <a:off x="1897105" y="3250532"/>
          <a:ext cx="33274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" name="Equation" r:id="rId14" imgW="1396800" imgH="393480" progId="Equation.DSMT4">
                  <p:embed/>
                </p:oleObj>
              </mc:Choice>
              <mc:Fallback>
                <p:oleObj name="Equation" r:id="rId14" imgW="1396800" imgH="393480" progId="Equation.DSMT4">
                  <p:embed/>
                  <p:pic>
                    <p:nvPicPr>
                      <p:cNvPr id="3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105" y="3250532"/>
                        <a:ext cx="3327400" cy="938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212866" y="4599485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即</a:t>
            </a:r>
          </a:p>
        </p:txBody>
      </p:sp>
      <p:graphicFrame>
        <p:nvGraphicFramePr>
          <p:cNvPr id="3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661520"/>
              </p:ext>
            </p:extLst>
          </p:nvPr>
        </p:nvGraphicFramePr>
        <p:xfrm>
          <a:off x="1894668" y="4255464"/>
          <a:ext cx="384175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2" name="Equation" r:id="rId16" imgW="1612800" imgH="507960" progId="Equation.DSMT4">
                  <p:embed/>
                </p:oleObj>
              </mc:Choice>
              <mc:Fallback>
                <p:oleObj name="Equation" r:id="rId16" imgW="1612800" imgH="507960" progId="Equation.DSMT4">
                  <p:embed/>
                  <p:pic>
                    <p:nvPicPr>
                      <p:cNvPr id="3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668" y="4255464"/>
                        <a:ext cx="3841750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284398" y="554065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轨迹方程为</a:t>
            </a:r>
          </a:p>
        </p:txBody>
      </p:sp>
      <p:graphicFrame>
        <p:nvGraphicFramePr>
          <p:cNvPr id="3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786307"/>
              </p:ext>
            </p:extLst>
          </p:nvPr>
        </p:nvGraphicFramePr>
        <p:xfrm>
          <a:off x="3284661" y="5540650"/>
          <a:ext cx="299561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3" name="Equation" r:id="rId18" imgW="1257120" imgH="228600" progId="Equation.DSMT4">
                  <p:embed/>
                </p:oleObj>
              </mc:Choice>
              <mc:Fallback>
                <p:oleObj name="Equation" r:id="rId18" imgW="1257120" imgH="228600" progId="Equation.DSMT4">
                  <p:embed/>
                  <p:pic>
                    <p:nvPicPr>
                      <p:cNvPr id="3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661" y="5540650"/>
                        <a:ext cx="2995612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36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26562E-49E8-410C-8ABA-F287C8FA0D14}"/>
              </a:ext>
            </a:extLst>
          </p:cNvPr>
          <p:cNvSpPr txBox="1"/>
          <p:nvPr/>
        </p:nvSpPr>
        <p:spPr>
          <a:xfrm>
            <a:off x="1054249" y="430306"/>
            <a:ext cx="3793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3.</a:t>
            </a:r>
            <a:r>
              <a:rPr lang="zh-CN" altLang="en-US" sz="2800" b="1" dirty="0">
                <a:latin typeface="+mj-ea"/>
                <a:ea typeface="+mj-ea"/>
              </a:rPr>
              <a:t>点到直线的距离公式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9FE3BF1-27F2-4F39-A01B-07BE10D3BFE3}"/>
              </a:ext>
            </a:extLst>
          </p:cNvPr>
          <p:cNvGrpSpPr/>
          <p:nvPr/>
        </p:nvGrpSpPr>
        <p:grpSpPr>
          <a:xfrm>
            <a:off x="1204856" y="1129553"/>
            <a:ext cx="3619902" cy="523220"/>
            <a:chOff x="1204856" y="1129553"/>
            <a:chExt cx="3619902" cy="52322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C4D420F-F006-4A65-9000-6E465C2084D0}"/>
                </a:ext>
              </a:extLst>
            </p:cNvPr>
            <p:cNvSpPr txBox="1"/>
            <p:nvPr/>
          </p:nvSpPr>
          <p:spPr>
            <a:xfrm>
              <a:off x="1204856" y="1129553"/>
              <a:ext cx="36199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b="1" dirty="0">
                  <a:latin typeface="+mj-ea"/>
                  <a:ea typeface="+mj-ea"/>
                </a:rPr>
                <a:t>设空间点          </a:t>
              </a:r>
              <a:r>
                <a:rPr lang="en-US" altLang="zh-CN" sz="2800" b="1" dirty="0">
                  <a:latin typeface="+mj-ea"/>
                  <a:ea typeface="+mj-ea"/>
                </a:rPr>
                <a:t>,</a:t>
              </a:r>
              <a:endParaRPr lang="zh-CN" altLang="en-US" sz="2800" b="1" dirty="0">
                <a:latin typeface="+mj-ea"/>
                <a:ea typeface="+mj-ea"/>
              </a:endParaRPr>
            </a:p>
          </p:txBody>
        </p:sp>
        <p:graphicFrame>
          <p:nvGraphicFramePr>
            <p:cNvPr id="5" name="Object 11">
              <a:extLst>
                <a:ext uri="{FF2B5EF4-FFF2-40B4-BE49-F238E27FC236}">
                  <a16:creationId xmlns:a16="http://schemas.microsoft.com/office/drawing/2014/main" id="{408A73D3-4237-46AC-9753-BA26555A1F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8981323"/>
                </p:ext>
              </p:extLst>
            </p:nvPr>
          </p:nvGraphicFramePr>
          <p:xfrm>
            <a:off x="2832100" y="1259073"/>
            <a:ext cx="15240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00" name="Equation" r:id="rId3" imgW="1523880" imgH="393480" progId="Equation.DSMT4">
                    <p:embed/>
                  </p:oleObj>
                </mc:Choice>
                <mc:Fallback>
                  <p:oleObj name="Equation" r:id="rId3" imgW="1523880" imgH="393480" progId="Equation.DSMT4">
                    <p:embed/>
                    <p:pic>
                      <p:nvPicPr>
                        <p:cNvPr id="15" name="Object 11">
                          <a:extLst>
                            <a:ext uri="{FF2B5EF4-FFF2-40B4-BE49-F238E27FC236}">
                              <a16:creationId xmlns:a16="http://schemas.microsoft.com/office/drawing/2014/main" id="{119626BF-0D1D-4459-9863-40A0CE5DCA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100" y="1259073"/>
                          <a:ext cx="15240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52AEBD0-A682-495E-90FC-3DA5C22691A9}"/>
              </a:ext>
            </a:extLst>
          </p:cNvPr>
          <p:cNvGrpSpPr/>
          <p:nvPr/>
        </p:nvGrpSpPr>
        <p:grpSpPr>
          <a:xfrm>
            <a:off x="1204856" y="1845684"/>
            <a:ext cx="4338047" cy="523220"/>
            <a:chOff x="1376979" y="1894073"/>
            <a:chExt cx="4338047" cy="52322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DFFC724-A2EA-40D6-83AD-F12010ECDC54}"/>
                </a:ext>
              </a:extLst>
            </p:cNvPr>
            <p:cNvSpPr txBox="1"/>
            <p:nvPr/>
          </p:nvSpPr>
          <p:spPr>
            <a:xfrm>
              <a:off x="1376979" y="1894073"/>
              <a:ext cx="43380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b="1" dirty="0">
                  <a:latin typeface="+mj-ea"/>
                  <a:ea typeface="+mj-ea"/>
                </a:rPr>
                <a:t>求点    到直线  的距离</a:t>
              </a:r>
              <a:r>
                <a:rPr lang="en-US" altLang="zh-CN" sz="2800" b="1" dirty="0">
                  <a:latin typeface="+mj-ea"/>
                  <a:ea typeface="+mj-ea"/>
                </a:rPr>
                <a:t>.</a:t>
              </a:r>
              <a:endParaRPr lang="zh-CN" altLang="en-US" sz="2800" b="1" dirty="0">
                <a:latin typeface="+mj-ea"/>
                <a:ea typeface="+mj-ea"/>
              </a:endParaRPr>
            </a:p>
          </p:txBody>
        </p:sp>
        <p:graphicFrame>
          <p:nvGraphicFramePr>
            <p:cNvPr id="9" name="Object 11">
              <a:extLst>
                <a:ext uri="{FF2B5EF4-FFF2-40B4-BE49-F238E27FC236}">
                  <a16:creationId xmlns:a16="http://schemas.microsoft.com/office/drawing/2014/main" id="{CF2649C7-3B99-4E51-87E5-152727168A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4727513"/>
                </p:ext>
              </p:extLst>
            </p:nvPr>
          </p:nvGraphicFramePr>
          <p:xfrm>
            <a:off x="2289848" y="2054989"/>
            <a:ext cx="4064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01" name="Equation" r:id="rId5" imgW="406080" imgH="291960" progId="Equation.DSMT4">
                    <p:embed/>
                  </p:oleObj>
                </mc:Choice>
                <mc:Fallback>
                  <p:oleObj name="Equation" r:id="rId5" imgW="406080" imgH="291960" progId="Equation.DSMT4">
                    <p:embed/>
                    <p:pic>
                      <p:nvPicPr>
                        <p:cNvPr id="5" name="Object 11">
                          <a:extLst>
                            <a:ext uri="{FF2B5EF4-FFF2-40B4-BE49-F238E27FC236}">
                              <a16:creationId xmlns:a16="http://schemas.microsoft.com/office/drawing/2014/main" id="{408A73D3-4237-46AC-9753-BA26555A1F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9848" y="2054989"/>
                          <a:ext cx="4064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F8298DC1-CECF-4B6A-B07A-1D9BB4791C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7461008"/>
                </p:ext>
              </p:extLst>
            </p:nvPr>
          </p:nvGraphicFramePr>
          <p:xfrm>
            <a:off x="4051451" y="2055343"/>
            <a:ext cx="2667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02" name="Equation" r:id="rId7" imgW="266400" imgH="291960" progId="Equation.DSMT4">
                    <p:embed/>
                  </p:oleObj>
                </mc:Choice>
                <mc:Fallback>
                  <p:oleObj name="Equation" r:id="rId7" imgW="266400" imgH="291960" progId="Equation.DSMT4">
                    <p:embed/>
                    <p:pic>
                      <p:nvPicPr>
                        <p:cNvPr id="5" name="Object 11">
                          <a:extLst>
                            <a:ext uri="{FF2B5EF4-FFF2-40B4-BE49-F238E27FC236}">
                              <a16:creationId xmlns:a16="http://schemas.microsoft.com/office/drawing/2014/main" id="{408A73D3-4237-46AC-9753-BA26555A1F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1451" y="2055343"/>
                          <a:ext cx="2667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A052D9D8-AC7B-4130-A88F-48CF1396E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240286"/>
              </p:ext>
            </p:extLst>
          </p:nvPr>
        </p:nvGraphicFramePr>
        <p:xfrm>
          <a:off x="1216025" y="2532943"/>
          <a:ext cx="2209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3" name="Equation" r:id="rId9" imgW="2209680" imgH="1028520" progId="Equation.DSMT4">
                  <p:embed/>
                </p:oleObj>
              </mc:Choice>
              <mc:Fallback>
                <p:oleObj name="Equation" r:id="rId9" imgW="2209680" imgH="102852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408A73D3-4237-46AC-9753-BA26555A1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2532943"/>
                        <a:ext cx="2209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>
            <a:extLst>
              <a:ext uri="{FF2B5EF4-FFF2-40B4-BE49-F238E27FC236}">
                <a16:creationId xmlns:a16="http://schemas.microsoft.com/office/drawing/2014/main" id="{9004CF6C-549F-40A0-9416-C114BF116A85}"/>
              </a:ext>
            </a:extLst>
          </p:cNvPr>
          <p:cNvGrpSpPr/>
          <p:nvPr/>
        </p:nvGrpSpPr>
        <p:grpSpPr>
          <a:xfrm>
            <a:off x="9536207" y="4922369"/>
            <a:ext cx="1580204" cy="673531"/>
            <a:chOff x="9536207" y="4922369"/>
            <a:chExt cx="1580204" cy="673531"/>
          </a:xfrm>
        </p:grpSpPr>
        <p:graphicFrame>
          <p:nvGraphicFramePr>
            <p:cNvPr id="41" name="Object 11">
              <a:extLst>
                <a:ext uri="{FF2B5EF4-FFF2-40B4-BE49-F238E27FC236}">
                  <a16:creationId xmlns:a16="http://schemas.microsoft.com/office/drawing/2014/main" id="{716C63A1-7E13-4083-BB0B-864861DF0E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6527541"/>
                </p:ext>
              </p:extLst>
            </p:nvPr>
          </p:nvGraphicFramePr>
          <p:xfrm>
            <a:off x="9536207" y="5255856"/>
            <a:ext cx="1580204" cy="3400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04" name="Equation" r:id="rId11" imgW="2006280" imgH="431640" progId="Equation.DSMT4">
                    <p:embed/>
                  </p:oleObj>
                </mc:Choice>
                <mc:Fallback>
                  <p:oleObj name="Equation" r:id="rId11" imgW="2006280" imgH="431640" progId="Equation.DSMT4">
                    <p:embed/>
                    <p:pic>
                      <p:nvPicPr>
                        <p:cNvPr id="4" name="Object 11">
                          <a:extLst>
                            <a:ext uri="{FF2B5EF4-FFF2-40B4-BE49-F238E27FC236}">
                              <a16:creationId xmlns:a16="http://schemas.microsoft.com/office/drawing/2014/main" id="{A2C2E43B-988B-42A3-987B-26552B8493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36207" y="5255856"/>
                          <a:ext cx="1580204" cy="3400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FCB92850-E5A4-44FF-9C44-6820AF259C2A}"/>
                </a:ext>
              </a:extLst>
            </p:cNvPr>
            <p:cNvSpPr/>
            <p:nvPr/>
          </p:nvSpPr>
          <p:spPr bwMode="auto">
            <a:xfrm>
              <a:off x="10311804" y="4922369"/>
              <a:ext cx="96819" cy="107576"/>
            </a:xfrm>
            <a:prstGeom prst="ellips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3" name="流程图: 数据 42">
            <a:extLst>
              <a:ext uri="{FF2B5EF4-FFF2-40B4-BE49-F238E27FC236}">
                <a16:creationId xmlns:a16="http://schemas.microsoft.com/office/drawing/2014/main" id="{DEF41A26-E947-4353-BBA8-B299DF96C3CF}"/>
              </a:ext>
            </a:extLst>
          </p:cNvPr>
          <p:cNvSpPr/>
          <p:nvPr/>
        </p:nvSpPr>
        <p:spPr bwMode="auto">
          <a:xfrm rot="9761371">
            <a:off x="6851439" y="2268538"/>
            <a:ext cx="4110479" cy="2491370"/>
          </a:xfrm>
          <a:prstGeom prst="flowChartInputOutpu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F46B957-4364-40FC-9D0C-C946F47B3D1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991504" y="3114654"/>
            <a:ext cx="1368709" cy="183680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45" name="Object 11">
            <a:extLst>
              <a:ext uri="{FF2B5EF4-FFF2-40B4-BE49-F238E27FC236}">
                <a16:creationId xmlns:a16="http://schemas.microsoft.com/office/drawing/2014/main" id="{054A1400-3178-441D-9029-4810C181D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10690"/>
              </p:ext>
            </p:extLst>
          </p:nvPr>
        </p:nvGraphicFramePr>
        <p:xfrm>
          <a:off x="8460151" y="3483823"/>
          <a:ext cx="1905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5" name="Equation" r:id="rId13" imgW="241200" imgH="317160" progId="Equation.DSMT4">
                  <p:embed/>
                </p:oleObj>
              </mc:Choice>
              <mc:Fallback>
                <p:oleObj name="Equation" r:id="rId13" imgW="241200" imgH="31716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93EF2AF5-A1BA-401D-8650-419D65804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0151" y="3483823"/>
                        <a:ext cx="1905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119E71DB-20A5-4E68-A249-5D390EA11101}"/>
              </a:ext>
            </a:extLst>
          </p:cNvPr>
          <p:cNvGrpSpPr/>
          <p:nvPr/>
        </p:nvGrpSpPr>
        <p:grpSpPr>
          <a:xfrm>
            <a:off x="7498874" y="3958974"/>
            <a:ext cx="3356385" cy="1198101"/>
            <a:chOff x="7760026" y="4057755"/>
            <a:chExt cx="3356385" cy="1198101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7C17DAD5-6712-4881-A36F-27B3B324DC1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698907" y="4397207"/>
              <a:ext cx="2417504" cy="85864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9C8099E-166D-4DFD-986D-FB9B225A12B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760026" y="4057755"/>
              <a:ext cx="938881" cy="33945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33BB435-A860-473F-820E-0B98807EC034}"/>
              </a:ext>
            </a:extLst>
          </p:cNvPr>
          <p:cNvCxnSpPr>
            <a:cxnSpLocks/>
          </p:cNvCxnSpPr>
          <p:nvPr/>
        </p:nvCxnSpPr>
        <p:spPr bwMode="auto">
          <a:xfrm flipH="1">
            <a:off x="8437755" y="3079729"/>
            <a:ext cx="575535" cy="121869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022B0B9-B708-4BB5-A86B-5DB719931AA1}"/>
              </a:ext>
            </a:extLst>
          </p:cNvPr>
          <p:cNvGrpSpPr/>
          <p:nvPr/>
        </p:nvGrpSpPr>
        <p:grpSpPr>
          <a:xfrm>
            <a:off x="8975639" y="2941271"/>
            <a:ext cx="1305627" cy="285252"/>
            <a:chOff x="8975639" y="2941271"/>
            <a:chExt cx="1305627" cy="285252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45E3EBF2-86BA-454E-896E-A8609D78D68D}"/>
                </a:ext>
              </a:extLst>
            </p:cNvPr>
            <p:cNvSpPr/>
            <p:nvPr/>
          </p:nvSpPr>
          <p:spPr bwMode="auto">
            <a:xfrm>
              <a:off x="8975639" y="3079729"/>
              <a:ext cx="75303" cy="69850"/>
            </a:xfrm>
            <a:prstGeom prst="ellips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52" name="Object 11">
              <a:extLst>
                <a:ext uri="{FF2B5EF4-FFF2-40B4-BE49-F238E27FC236}">
                  <a16:creationId xmlns:a16="http://schemas.microsoft.com/office/drawing/2014/main" id="{81DBDAAE-74AC-4587-A4B4-01A01E7A42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326286"/>
                </p:ext>
              </p:extLst>
            </p:nvPr>
          </p:nvGraphicFramePr>
          <p:xfrm>
            <a:off x="9177066" y="2941271"/>
            <a:ext cx="1104200" cy="285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06" name="Equation" r:id="rId15" imgW="1523880" imgH="393480" progId="Equation.DSMT4">
                    <p:embed/>
                  </p:oleObj>
                </mc:Choice>
                <mc:Fallback>
                  <p:oleObj name="Equation" r:id="rId15" imgW="1523880" imgH="393480" progId="Equation.DSMT4">
                    <p:embed/>
                    <p:pic>
                      <p:nvPicPr>
                        <p:cNvPr id="13" name="Object 11">
                          <a:extLst>
                            <a:ext uri="{FF2B5EF4-FFF2-40B4-BE49-F238E27FC236}">
                              <a16:creationId xmlns:a16="http://schemas.microsoft.com/office/drawing/2014/main" id="{30E57EEE-97BD-4AA1-9273-2C50BC44BD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77066" y="2941271"/>
                          <a:ext cx="1104200" cy="285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5E7A303-3E42-46ED-A3D5-2F0045F6E1F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792381" y="4058471"/>
            <a:ext cx="2567832" cy="9142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27BCF6E-A281-4589-AF03-02D2380C3601}"/>
              </a:ext>
            </a:extLst>
          </p:cNvPr>
          <p:cNvGrpSpPr/>
          <p:nvPr/>
        </p:nvGrpSpPr>
        <p:grpSpPr>
          <a:xfrm>
            <a:off x="4633812" y="970105"/>
            <a:ext cx="5602469" cy="927100"/>
            <a:chOff x="4633812" y="970105"/>
            <a:chExt cx="5602469" cy="927100"/>
          </a:xfrm>
        </p:grpSpPr>
        <p:graphicFrame>
          <p:nvGraphicFramePr>
            <p:cNvPr id="6" name="Object 11">
              <a:extLst>
                <a:ext uri="{FF2B5EF4-FFF2-40B4-BE49-F238E27FC236}">
                  <a16:creationId xmlns:a16="http://schemas.microsoft.com/office/drawing/2014/main" id="{FE8059F9-A6CD-478F-8755-D46297F815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0566683"/>
                </p:ext>
              </p:extLst>
            </p:nvPr>
          </p:nvGraphicFramePr>
          <p:xfrm>
            <a:off x="6261181" y="970105"/>
            <a:ext cx="3975100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07" name="Equation" r:id="rId17" imgW="3974760" imgH="927000" progId="Equation.DSMT4">
                    <p:embed/>
                  </p:oleObj>
                </mc:Choice>
                <mc:Fallback>
                  <p:oleObj name="Equation" r:id="rId17" imgW="3974760" imgH="927000" progId="Equation.DSMT4">
                    <p:embed/>
                    <p:pic>
                      <p:nvPicPr>
                        <p:cNvPr id="15" name="Object 11">
                          <a:extLst>
                            <a:ext uri="{FF2B5EF4-FFF2-40B4-BE49-F238E27FC236}">
                              <a16:creationId xmlns:a16="http://schemas.microsoft.com/office/drawing/2014/main" id="{119626BF-0D1D-4459-9863-40A0CE5DCA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1181" y="970105"/>
                          <a:ext cx="3975100" cy="927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85701C0-7A8F-486C-B90C-6A01D04EE4BE}"/>
                </a:ext>
              </a:extLst>
            </p:cNvPr>
            <p:cNvSpPr/>
            <p:nvPr/>
          </p:nvSpPr>
          <p:spPr>
            <a:xfrm>
              <a:off x="4633812" y="1172045"/>
              <a:ext cx="162736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+mj-ea"/>
                </a:rPr>
                <a:t>空间直线</a:t>
              </a:r>
              <a:endParaRPr lang="zh-CN" altLang="en-US" sz="2800" dirty="0"/>
            </a:p>
          </p:txBody>
        </p:sp>
      </p:grpSp>
      <p:graphicFrame>
        <p:nvGraphicFramePr>
          <p:cNvPr id="60" name="Object 11">
            <a:extLst>
              <a:ext uri="{FF2B5EF4-FFF2-40B4-BE49-F238E27FC236}">
                <a16:creationId xmlns:a16="http://schemas.microsoft.com/office/drawing/2014/main" id="{EED8A959-15EA-4764-90AB-6CFB03138C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063641"/>
              </p:ext>
            </p:extLst>
          </p:nvPr>
        </p:nvGraphicFramePr>
        <p:xfrm>
          <a:off x="1081088" y="3289300"/>
          <a:ext cx="59817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8" name="Equation" r:id="rId19" imgW="5981400" imgH="1765080" progId="Equation.DSMT4">
                  <p:embed/>
                </p:oleObj>
              </mc:Choice>
              <mc:Fallback>
                <p:oleObj name="Equation" r:id="rId19" imgW="5981400" imgH="1765080" progId="Equation.DSMT4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A052D9D8-AC7B-4130-A88F-48CF1396E5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3289300"/>
                        <a:ext cx="59817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332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424934D-D660-4350-8A72-485EB3304994}"/>
              </a:ext>
            </a:extLst>
          </p:cNvPr>
          <p:cNvGrpSpPr/>
          <p:nvPr/>
        </p:nvGrpSpPr>
        <p:grpSpPr>
          <a:xfrm>
            <a:off x="1181100" y="582010"/>
            <a:ext cx="10355467" cy="977900"/>
            <a:chOff x="2095471" y="927092"/>
            <a:chExt cx="10355467" cy="9779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6766E6-F85F-4272-B0A5-274066A79CC5}"/>
                </a:ext>
              </a:extLst>
            </p:cNvPr>
            <p:cNvSpPr txBox="1"/>
            <p:nvPr/>
          </p:nvSpPr>
          <p:spPr>
            <a:xfrm>
              <a:off x="2095471" y="1142985"/>
              <a:ext cx="103554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例</a:t>
              </a:r>
              <a:r>
                <a:rPr lang="en-US" altLang="zh-CN" sz="2800" b="1" dirty="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5</a:t>
              </a:r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：点          到直线                 的距离为多少？                        </a:t>
              </a:r>
            </a:p>
          </p:txBody>
        </p:sp>
        <p:graphicFrame>
          <p:nvGraphicFramePr>
            <p:cNvPr id="5" name="Object 2">
              <a:extLst>
                <a:ext uri="{FF2B5EF4-FFF2-40B4-BE49-F238E27FC236}">
                  <a16:creationId xmlns:a16="http://schemas.microsoft.com/office/drawing/2014/main" id="{ACF3579E-E2AA-4BED-9EE9-06211005B7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7068504"/>
                </p:ext>
              </p:extLst>
            </p:nvPr>
          </p:nvGraphicFramePr>
          <p:xfrm>
            <a:off x="3474481" y="1269830"/>
            <a:ext cx="163512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3" name="Equation" r:id="rId3" imgW="685800" imgH="203040" progId="Equation.DSMT4">
                    <p:embed/>
                  </p:oleObj>
                </mc:Choice>
                <mc:Fallback>
                  <p:oleObj name="Equation" r:id="rId3" imgW="685800" imgH="203040" progId="Equation.DSMT4">
                    <p:embed/>
                    <p:pic>
                      <p:nvPicPr>
                        <p:cNvPr id="5325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4481" y="1269830"/>
                          <a:ext cx="1635125" cy="484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3">
              <a:extLst>
                <a:ext uri="{FF2B5EF4-FFF2-40B4-BE49-F238E27FC236}">
                  <a16:creationId xmlns:a16="http://schemas.microsoft.com/office/drawing/2014/main" id="{6E61EF1E-2E7D-40A5-BCB5-A5188C4592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3380962"/>
                </p:ext>
              </p:extLst>
            </p:nvPr>
          </p:nvGraphicFramePr>
          <p:xfrm>
            <a:off x="6376699" y="927092"/>
            <a:ext cx="3046413" cy="97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4" name="Equation" r:id="rId5" imgW="1028520" imgH="393480" progId="Equation.DSMT4">
                    <p:embed/>
                  </p:oleObj>
                </mc:Choice>
                <mc:Fallback>
                  <p:oleObj name="Equation" r:id="rId5" imgW="1028520" imgH="393480" progId="Equation.DSMT4">
                    <p:embed/>
                    <p:pic>
                      <p:nvPicPr>
                        <p:cNvPr id="2254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6699" y="927092"/>
                          <a:ext cx="3046413" cy="977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34BDA4D-8887-4C62-B731-D9882F4B1093}"/>
              </a:ext>
            </a:extLst>
          </p:cNvPr>
          <p:cNvSpPr txBox="1"/>
          <p:nvPr/>
        </p:nvSpPr>
        <p:spPr>
          <a:xfrm>
            <a:off x="1181100" y="1775803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j-ea"/>
                <a:ea typeface="+mj-ea"/>
              </a:rPr>
              <a:t>法一：代公式</a:t>
            </a:r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5AAD17C6-52B8-4477-9F07-589676BE3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034838"/>
              </p:ext>
            </p:extLst>
          </p:nvPr>
        </p:nvGraphicFramePr>
        <p:xfrm>
          <a:off x="1385887" y="2643634"/>
          <a:ext cx="68199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" name="Equation" r:id="rId7" imgW="6819840" imgH="1765080" progId="Equation.DSMT4">
                  <p:embed/>
                </p:oleObj>
              </mc:Choice>
              <mc:Fallback>
                <p:oleObj name="Equation" r:id="rId7" imgW="6819840" imgH="1765080" progId="Equation.DSMT4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A052D9D8-AC7B-4130-A88F-48CF1396E5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7" y="2643634"/>
                        <a:ext cx="68199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2726B0B5-6CE2-4AAA-A9E0-1ED35B5FC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748893"/>
              </p:ext>
            </p:extLst>
          </p:nvPr>
        </p:nvGraphicFramePr>
        <p:xfrm>
          <a:off x="3748611" y="1789763"/>
          <a:ext cx="176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9" imgW="1765080" imgH="495000" progId="Equation.DSMT4">
                  <p:embed/>
                </p:oleObj>
              </mc:Choice>
              <mc:Fallback>
                <p:oleObj name="Equation" r:id="rId9" imgW="1765080" imgH="495000" progId="Equation.DSMT4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A052D9D8-AC7B-4130-A88F-48CF1396E5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611" y="1789763"/>
                        <a:ext cx="1765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F5DD6AC7-89A9-4741-9C3A-C23409448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965482"/>
              </p:ext>
            </p:extLst>
          </p:nvPr>
        </p:nvGraphicFramePr>
        <p:xfrm>
          <a:off x="6781800" y="1840890"/>
          <a:ext cx="2438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Equation" r:id="rId11" imgW="2438280" imgH="520560" progId="Equation.DSMT4">
                  <p:embed/>
                </p:oleObj>
              </mc:Choice>
              <mc:Fallback>
                <p:oleObj name="Equation" r:id="rId11" imgW="2438280" imgH="52056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5AAD17C6-52B8-4477-9F07-589676BE3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840890"/>
                        <a:ext cx="2438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088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9D5705-30DB-461C-882E-DF7D60F43347}"/>
              </a:ext>
            </a:extLst>
          </p:cNvPr>
          <p:cNvGrpSpPr/>
          <p:nvPr/>
        </p:nvGrpSpPr>
        <p:grpSpPr>
          <a:xfrm>
            <a:off x="1181100" y="582010"/>
            <a:ext cx="10355467" cy="977900"/>
            <a:chOff x="2095471" y="927092"/>
            <a:chExt cx="10355467" cy="977900"/>
          </a:xfrm>
        </p:grpSpPr>
        <p:sp>
          <p:nvSpPr>
            <p:cNvPr id="4" name="TextBox 3"/>
            <p:cNvSpPr txBox="1"/>
            <p:nvPr/>
          </p:nvSpPr>
          <p:spPr>
            <a:xfrm>
              <a:off x="2095471" y="1142985"/>
              <a:ext cx="103554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例</a:t>
              </a:r>
              <a:r>
                <a:rPr lang="en-US" altLang="zh-CN" sz="2800" b="1" dirty="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5</a:t>
              </a:r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：点          到直线                 的距离为多少？                        </a:t>
              </a:r>
            </a:p>
          </p:txBody>
        </p:sp>
        <p:graphicFrame>
          <p:nvGraphicFramePr>
            <p:cNvPr id="5325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9494442"/>
                </p:ext>
              </p:extLst>
            </p:nvPr>
          </p:nvGraphicFramePr>
          <p:xfrm>
            <a:off x="3474481" y="1269830"/>
            <a:ext cx="163512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85" name="Equation" r:id="rId3" imgW="685800" imgH="203040" progId="Equation.DSMT4">
                    <p:embed/>
                  </p:oleObj>
                </mc:Choice>
                <mc:Fallback>
                  <p:oleObj name="Equation" r:id="rId3" imgW="685800" imgH="203040" progId="Equation.DSMT4">
                    <p:embed/>
                    <p:pic>
                      <p:nvPicPr>
                        <p:cNvPr id="5325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4481" y="1269830"/>
                          <a:ext cx="1635125" cy="484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0590341"/>
                </p:ext>
              </p:extLst>
            </p:nvPr>
          </p:nvGraphicFramePr>
          <p:xfrm>
            <a:off x="6376699" y="927092"/>
            <a:ext cx="3046413" cy="97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86" name="Equation" r:id="rId5" imgW="1028520" imgH="393480" progId="Equation.DSMT4">
                    <p:embed/>
                  </p:oleObj>
                </mc:Choice>
                <mc:Fallback>
                  <p:oleObj name="Equation" r:id="rId5" imgW="1028520" imgH="393480" progId="Equation.DSMT4">
                    <p:embed/>
                    <p:pic>
                      <p:nvPicPr>
                        <p:cNvPr id="2254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6699" y="927092"/>
                          <a:ext cx="3046413" cy="977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椭圆 7"/>
          <p:cNvSpPr/>
          <p:nvPr/>
        </p:nvSpPr>
        <p:spPr>
          <a:xfrm>
            <a:off x="8221285" y="287594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rot="5400000" flipH="1" flipV="1">
            <a:off x="7506905" y="2304438"/>
            <a:ext cx="3214710" cy="26432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/>
          <p:cNvSpPr/>
          <p:nvPr/>
        </p:nvSpPr>
        <p:spPr>
          <a:xfrm rot="1692880">
            <a:off x="7292591" y="2447314"/>
            <a:ext cx="3643306" cy="2214578"/>
          </a:xfrm>
          <a:prstGeom prst="parallelogram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149979" y="351888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>
            <a:endCxn id="12" idx="1"/>
          </p:cNvCxnSpPr>
          <p:nvPr/>
        </p:nvCxnSpPr>
        <p:spPr>
          <a:xfrm>
            <a:off x="8292723" y="2947380"/>
            <a:ext cx="867718" cy="581966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388" y="1600647"/>
            <a:ext cx="6274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法二：过点</a:t>
            </a:r>
            <a:r>
              <a:rPr lang="en-US" altLang="zh-CN" sz="2800" b="1" i="1" dirty="0">
                <a:latin typeface="+mj-lt"/>
                <a:ea typeface="黑体" pitchFamily="49" charset="-122"/>
              </a:rPr>
              <a:t>M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且与直线垂直的平面方程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608564"/>
              </p:ext>
            </p:extLst>
          </p:nvPr>
        </p:nvGraphicFramePr>
        <p:xfrm>
          <a:off x="2179877" y="2224719"/>
          <a:ext cx="42497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7" name="Equation" r:id="rId7" imgW="1434960" imgH="203040" progId="Equation.DSMT4">
                  <p:embed/>
                </p:oleObj>
              </mc:Choice>
              <mc:Fallback>
                <p:oleObj name="Equation" r:id="rId7" imgW="1434960" imgH="20304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877" y="2224719"/>
                        <a:ext cx="4249737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181067" y="2745917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即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837222"/>
              </p:ext>
            </p:extLst>
          </p:nvPr>
        </p:nvGraphicFramePr>
        <p:xfrm>
          <a:off x="1895448" y="2817356"/>
          <a:ext cx="30845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8" name="Equation" r:id="rId9" imgW="1041120" imgH="203040" progId="Equation.DSMT4">
                  <p:embed/>
                </p:oleObj>
              </mc:Choice>
              <mc:Fallback>
                <p:oleObj name="Equation" r:id="rId9" imgW="1041120" imgH="20304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48" y="2817356"/>
                        <a:ext cx="308451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210705" y="3740596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设直线上任一点为</a:t>
            </a: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262642"/>
              </p:ext>
            </p:extLst>
          </p:nvPr>
        </p:nvGraphicFramePr>
        <p:xfrm>
          <a:off x="4195235" y="3132824"/>
          <a:ext cx="2257425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9" name="Equation" r:id="rId11" imgW="761760" imgH="711000" progId="Equation.DSMT4">
                  <p:embed/>
                </p:oleObj>
              </mc:Choice>
              <mc:Fallback>
                <p:oleObj name="Equation" r:id="rId11" imgW="761760" imgH="711000" progId="Equation.DSMT4">
                  <p:embed/>
                  <p:pic>
                    <p:nvPicPr>
                      <p:cNvPr id="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235" y="3132824"/>
                        <a:ext cx="2257425" cy="176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255001" y="4827730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代入平面方程交点为</a:t>
            </a:r>
          </a:p>
        </p:txBody>
      </p:sp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696490"/>
              </p:ext>
            </p:extLst>
          </p:nvPr>
        </p:nvGraphicFramePr>
        <p:xfrm>
          <a:off x="4781579" y="4638919"/>
          <a:ext cx="20304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0" name="Equation" r:id="rId13" imgW="685800" imgH="393480" progId="Equation.DSMT4">
                  <p:embed/>
                </p:oleObj>
              </mc:Choice>
              <mc:Fallback>
                <p:oleObj name="Equation" r:id="rId13" imgW="685800" imgH="393480" progId="Equation.DSMT4">
                  <p:embed/>
                  <p:pic>
                    <p:nvPicPr>
                      <p:cNvPr id="2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79" y="4638919"/>
                        <a:ext cx="2030413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286360" y="5552655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故距离为</a:t>
            </a:r>
          </a:p>
        </p:txBody>
      </p:sp>
      <p:graphicFrame>
        <p:nvGraphicFramePr>
          <p:cNvPr id="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091325"/>
              </p:ext>
            </p:extLst>
          </p:nvPr>
        </p:nvGraphicFramePr>
        <p:xfrm>
          <a:off x="2869754" y="5278484"/>
          <a:ext cx="97790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1" name="Equation" r:id="rId15" imgW="330120" imgH="431640" progId="Equation.DSMT4">
                  <p:embed/>
                </p:oleObj>
              </mc:Choice>
              <mc:Fallback>
                <p:oleObj name="Equation" r:id="rId15" imgW="330120" imgH="431640" progId="Equation.DSMT4">
                  <p:embed/>
                  <p:pic>
                    <p:nvPicPr>
                      <p:cNvPr id="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754" y="5278484"/>
                        <a:ext cx="977900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5" grpId="0"/>
      <p:bldP spid="19" grpId="0"/>
      <p:bldP spid="21" grpId="0"/>
      <p:bldP spid="23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180768B-E278-4AD0-B1DF-8B5F2E9966AC}"/>
              </a:ext>
            </a:extLst>
          </p:cNvPr>
          <p:cNvGrpSpPr/>
          <p:nvPr/>
        </p:nvGrpSpPr>
        <p:grpSpPr>
          <a:xfrm>
            <a:off x="1312560" y="440531"/>
            <a:ext cx="9882287" cy="1135062"/>
            <a:chOff x="755576" y="475973"/>
            <a:chExt cx="9882287" cy="113506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22C12B6-BA8D-4ABC-8F19-C778E4B128E0}"/>
                </a:ext>
              </a:extLst>
            </p:cNvPr>
            <p:cNvSpPr txBox="1"/>
            <p:nvPr/>
          </p:nvSpPr>
          <p:spPr>
            <a:xfrm>
              <a:off x="755576" y="692696"/>
              <a:ext cx="52437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练习</a:t>
              </a:r>
              <a:r>
                <a:rPr lang="en-US" altLang="zh-CN" sz="2800" b="1" dirty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4</a:t>
              </a:r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：求点           到直线</a:t>
              </a:r>
            </a:p>
          </p:txBody>
        </p:sp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FB4E512B-937D-4DB1-9DD2-051C9C21FD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4797228"/>
                </p:ext>
              </p:extLst>
            </p:nvPr>
          </p:nvGraphicFramePr>
          <p:xfrm>
            <a:off x="2880745" y="791091"/>
            <a:ext cx="1955800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84" name="Equation" r:id="rId3" imgW="660240" imgH="203040" progId="Equation.DSMT4">
                    <p:embed/>
                  </p:oleObj>
                </mc:Choice>
                <mc:Fallback>
                  <p:oleObj name="Equation" r:id="rId3" imgW="660240" imgH="203040" progId="Equation.DSMT4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FB4E512B-937D-4DB1-9DD2-051C9C21FD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745" y="791091"/>
                          <a:ext cx="1955800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3">
              <a:extLst>
                <a:ext uri="{FF2B5EF4-FFF2-40B4-BE49-F238E27FC236}">
                  <a16:creationId xmlns:a16="http://schemas.microsoft.com/office/drawing/2014/main" id="{4F41A64F-233B-409C-A4F0-4A34894853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310339"/>
                </p:ext>
              </p:extLst>
            </p:nvPr>
          </p:nvGraphicFramePr>
          <p:xfrm>
            <a:off x="5948520" y="475973"/>
            <a:ext cx="3422650" cy="1135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85" name="Equation" r:id="rId5" imgW="1155600" imgH="457200" progId="Equation.DSMT4">
                    <p:embed/>
                  </p:oleObj>
                </mc:Choice>
                <mc:Fallback>
                  <p:oleObj name="Equation" r:id="rId5" imgW="1155600" imgH="457200" progId="Equation.DSMT4">
                    <p:embed/>
                    <p:pic>
                      <p:nvPicPr>
                        <p:cNvPr id="5" name="Object 3">
                          <a:extLst>
                            <a:ext uri="{FF2B5EF4-FFF2-40B4-BE49-F238E27FC236}">
                              <a16:creationId xmlns:a16="http://schemas.microsoft.com/office/drawing/2014/main" id="{4F41A64F-233B-409C-A4F0-4A34894853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8520" y="475973"/>
                          <a:ext cx="3422650" cy="1135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395CE3C-0B0B-4ED3-8EA3-54556411B93A}"/>
                </a:ext>
              </a:extLst>
            </p:cNvPr>
            <p:cNvSpPr txBox="1"/>
            <p:nvPr/>
          </p:nvSpPr>
          <p:spPr>
            <a:xfrm>
              <a:off x="9371170" y="692696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的距离</a:t>
              </a:r>
            </a:p>
          </p:txBody>
        </p:sp>
      </p:grpSp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119626BF-0D1D-4459-9863-40A0CE5DCA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952148"/>
              </p:ext>
            </p:extLst>
          </p:nvPr>
        </p:nvGraphicFramePr>
        <p:xfrm>
          <a:off x="1484312" y="2214563"/>
          <a:ext cx="1028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6" name="Equation" r:id="rId7" imgW="1028520" imgH="495000" progId="Equation.DSMT4">
                  <p:embed/>
                </p:oleObj>
              </mc:Choice>
              <mc:Fallback>
                <p:oleObj name="Equation" r:id="rId7" imgW="1028520" imgH="49500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F5D2EB87-823E-4E24-9439-F7313E392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312" y="2214563"/>
                        <a:ext cx="1028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7E475F03-665D-4BF7-A290-5994DFBEE6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65355"/>
              </p:ext>
            </p:extLst>
          </p:nvPr>
        </p:nvGraphicFramePr>
        <p:xfrm>
          <a:off x="3746500" y="2005013"/>
          <a:ext cx="1079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7" name="Equation" r:id="rId9" imgW="1079280" imgH="914400" progId="Equation.DSMT4">
                  <p:embed/>
                </p:oleObj>
              </mc:Choice>
              <mc:Fallback>
                <p:oleObj name="Equation" r:id="rId9" imgW="1079280" imgH="91440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119626BF-0D1D-4459-9863-40A0CE5DC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2005013"/>
                        <a:ext cx="1079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33211FBB-8B31-4887-960A-487524452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834127"/>
              </p:ext>
            </p:extLst>
          </p:nvPr>
        </p:nvGraphicFramePr>
        <p:xfrm>
          <a:off x="6384925" y="2005013"/>
          <a:ext cx="106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8" name="Equation" r:id="rId11" imgW="1066680" imgH="914400" progId="Equation.DSMT4">
                  <p:embed/>
                </p:oleObj>
              </mc:Choice>
              <mc:Fallback>
                <p:oleObj name="Equation" r:id="rId11" imgW="1066680" imgH="91440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119626BF-0D1D-4459-9863-40A0CE5DC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925" y="2005013"/>
                        <a:ext cx="1066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5D040BC6-FB8A-4BEA-B373-C3721228EF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622642"/>
              </p:ext>
            </p:extLst>
          </p:nvPr>
        </p:nvGraphicFramePr>
        <p:xfrm>
          <a:off x="9353550" y="2005013"/>
          <a:ext cx="927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9" name="Equation" r:id="rId13" imgW="927000" imgH="914400" progId="Equation.DSMT4">
                  <p:embed/>
                </p:oleObj>
              </mc:Choice>
              <mc:Fallback>
                <p:oleObj name="Equation" r:id="rId13" imgW="927000" imgH="91440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119626BF-0D1D-4459-9863-40A0CE5DC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3550" y="2005013"/>
                        <a:ext cx="927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302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545339"/>
            <a:ext cx="5257800" cy="685800"/>
          </a:xfrm>
        </p:spPr>
        <p:txBody>
          <a:bodyPr/>
          <a:lstStyle/>
          <a:p>
            <a:pPr algn="l" eaLnBrk="1" hangingPunct="1"/>
            <a:r>
              <a:rPr lang="zh-CN" altLang="en-US" sz="3200" dirty="0">
                <a:solidFill>
                  <a:schemeClr val="tx1"/>
                </a:solidFill>
                <a:ea typeface="黑体" pitchFamily="2" charset="-122"/>
              </a:rPr>
              <a:t>4. 平面束方程及应用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398793" y="1487487"/>
            <a:ext cx="754063" cy="1800225"/>
            <a:chOff x="0" y="0"/>
            <a:chExt cx="475" cy="1134"/>
          </a:xfrm>
        </p:grpSpPr>
        <p:sp>
          <p:nvSpPr>
            <p:cNvPr id="31765" name="AutoShape 4"/>
            <p:cNvSpPr>
              <a:spLocks noChangeArrowheads="1"/>
            </p:cNvSpPr>
            <p:nvPr/>
          </p:nvSpPr>
          <p:spPr bwMode="auto">
            <a:xfrm rot="-3039119">
              <a:off x="-378" y="374"/>
              <a:ext cx="1134" cy="377"/>
            </a:xfrm>
            <a:prstGeom prst="parallelogram">
              <a:avLst>
                <a:gd name="adj" fmla="val 26389"/>
              </a:avLst>
            </a:prstGeom>
            <a:solidFill>
              <a:srgbClr val="C9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5" name="Object 5"/>
            <p:cNvGraphicFramePr>
              <a:graphicFrameLocks noChangeAspect="1"/>
            </p:cNvGraphicFramePr>
            <p:nvPr/>
          </p:nvGraphicFramePr>
          <p:xfrm>
            <a:off x="283" y="167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96" r:id="rId3" imgW="458711" imgH="458711" progId="Equation.3">
                    <p:embed/>
                  </p:oleObj>
                </mc:Choice>
                <mc:Fallback>
                  <p:oleObj r:id="rId3" imgW="458711" imgH="458711" progId="Equation.3">
                    <p:embed/>
                    <p:pic>
                      <p:nvPicPr>
                        <p:cNvPr id="3175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167"/>
                          <a:ext cx="192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9203530" y="2008186"/>
            <a:ext cx="2239962" cy="1055688"/>
            <a:chOff x="0" y="0"/>
            <a:chExt cx="1411" cy="665"/>
          </a:xfrm>
        </p:grpSpPr>
        <p:sp>
          <p:nvSpPr>
            <p:cNvPr id="31764" name="AutoShape 7"/>
            <p:cNvSpPr>
              <a:spLocks noChangeArrowheads="1"/>
            </p:cNvSpPr>
            <p:nvPr/>
          </p:nvSpPr>
          <p:spPr bwMode="auto">
            <a:xfrm rot="-719081">
              <a:off x="0" y="0"/>
              <a:ext cx="1411" cy="665"/>
            </a:xfrm>
            <a:prstGeom prst="parallelogram">
              <a:avLst>
                <a:gd name="adj" fmla="val 124518"/>
              </a:avLst>
            </a:prstGeom>
            <a:solidFill>
              <a:srgbClr val="FFC1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4" name="Object 8"/>
            <p:cNvGraphicFramePr>
              <a:graphicFrameLocks noChangeAspect="1"/>
            </p:cNvGraphicFramePr>
            <p:nvPr/>
          </p:nvGraphicFramePr>
          <p:xfrm>
            <a:off x="497" y="463"/>
            <a:ext cx="19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97" r:id="rId5" imgW="471444" imgH="458711" progId="Equation.3">
                    <p:embed/>
                  </p:oleObj>
                </mc:Choice>
                <mc:Fallback>
                  <p:oleObj r:id="rId5" imgW="471444" imgH="458711" progId="Equation.3">
                    <p:embed/>
                    <p:pic>
                      <p:nvPicPr>
                        <p:cNvPr id="3175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" y="463"/>
                          <a:ext cx="197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9279731" y="1958975"/>
            <a:ext cx="1146175" cy="1597025"/>
            <a:chOff x="0" y="17"/>
            <a:chExt cx="722" cy="1006"/>
          </a:xfrm>
        </p:grpSpPr>
        <p:sp>
          <p:nvSpPr>
            <p:cNvPr id="31763" name="Line 10"/>
            <p:cNvSpPr>
              <a:spLocks noChangeShapeType="1"/>
            </p:cNvSpPr>
            <p:nvPr/>
          </p:nvSpPr>
          <p:spPr bwMode="auto">
            <a:xfrm flipV="1">
              <a:off x="22" y="17"/>
              <a:ext cx="700" cy="8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3" name="Object 11"/>
            <p:cNvGraphicFramePr>
              <a:graphicFrameLocks noChangeAspect="1"/>
            </p:cNvGraphicFramePr>
            <p:nvPr/>
          </p:nvGraphicFramePr>
          <p:xfrm>
            <a:off x="0" y="872"/>
            <a:ext cx="13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98" r:id="rId7" imgW="153199" imgH="165849" progId="Equation.3">
                    <p:embed/>
                  </p:oleObj>
                </mc:Choice>
                <mc:Fallback>
                  <p:oleObj r:id="rId7" imgW="153199" imgH="165849" progId="Equation.3">
                    <p:embed/>
                    <p:pic>
                      <p:nvPicPr>
                        <p:cNvPr id="31753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72"/>
                          <a:ext cx="134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033749"/>
              </p:ext>
            </p:extLst>
          </p:nvPr>
        </p:nvGraphicFramePr>
        <p:xfrm>
          <a:off x="1295400" y="1487487"/>
          <a:ext cx="614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9" r:id="rId9" imgW="6144450" imgH="431930" progId="Equation.3">
                  <p:embed/>
                </p:oleObj>
              </mc:Choice>
              <mc:Fallback>
                <p:oleObj r:id="rId9" imgW="6144450" imgH="431930" progId="Equation.3">
                  <p:embed/>
                  <p:pic>
                    <p:nvPicPr>
                      <p:cNvPr id="327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487487"/>
                        <a:ext cx="6146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50437"/>
              </p:ext>
            </p:extLst>
          </p:nvPr>
        </p:nvGraphicFramePr>
        <p:xfrm>
          <a:off x="2774950" y="2185988"/>
          <a:ext cx="4927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00" r:id="rId11" imgW="4927917" imgH="419417" progId="Equation.3">
                  <p:embed/>
                </p:oleObj>
              </mc:Choice>
              <mc:Fallback>
                <p:oleObj r:id="rId11" imgW="4927917" imgH="419417" progId="Equation.3">
                  <p:embed/>
                  <p:pic>
                    <p:nvPicPr>
                      <p:cNvPr id="327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2185988"/>
                        <a:ext cx="4927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657442"/>
              </p:ext>
            </p:extLst>
          </p:nvPr>
        </p:nvGraphicFramePr>
        <p:xfrm>
          <a:off x="1295400" y="2807522"/>
          <a:ext cx="692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01" r:id="rId13" imgW="6918814" imgH="431930" progId="Equation.3">
                  <p:embed/>
                </p:oleObj>
              </mc:Choice>
              <mc:Fallback>
                <p:oleObj r:id="rId13" imgW="6918814" imgH="431930" progId="Equation.3">
                  <p:embed/>
                  <p:pic>
                    <p:nvPicPr>
                      <p:cNvPr id="327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07522"/>
                        <a:ext cx="6921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059360"/>
              </p:ext>
            </p:extLst>
          </p:nvPr>
        </p:nvGraphicFramePr>
        <p:xfrm>
          <a:off x="1330325" y="3482181"/>
          <a:ext cx="715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02" r:id="rId15" imgW="7147315" imgH="431930" progId="Equation.3">
                  <p:embed/>
                </p:oleObj>
              </mc:Choice>
              <mc:Fallback>
                <p:oleObj r:id="rId15" imgW="7147315" imgH="431930" progId="Equation.3">
                  <p:embed/>
                  <p:pic>
                    <p:nvPicPr>
                      <p:cNvPr id="327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3482181"/>
                        <a:ext cx="7150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957767"/>
              </p:ext>
            </p:extLst>
          </p:nvPr>
        </p:nvGraphicFramePr>
        <p:xfrm>
          <a:off x="2489200" y="4127557"/>
          <a:ext cx="7734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03" r:id="rId17" imgW="7734617" imgH="419417" progId="Equation.3">
                  <p:embed/>
                </p:oleObj>
              </mc:Choice>
              <mc:Fallback>
                <p:oleObj r:id="rId17" imgW="7734617" imgH="419417" progId="Equation.3">
                  <p:embed/>
                  <p:pic>
                    <p:nvPicPr>
                      <p:cNvPr id="327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4127557"/>
                        <a:ext cx="7734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74395"/>
              </p:ext>
            </p:extLst>
          </p:nvPr>
        </p:nvGraphicFramePr>
        <p:xfrm>
          <a:off x="1330325" y="4709347"/>
          <a:ext cx="844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04" name="Equation" r:id="rId19" imgW="8445817" imgH="419417" progId="Equation.DSMT4">
                  <p:embed/>
                </p:oleObj>
              </mc:Choice>
              <mc:Fallback>
                <p:oleObj name="Equation" r:id="rId19" imgW="8445817" imgH="419417" progId="Equation.DSMT4">
                  <p:embed/>
                  <p:pic>
                    <p:nvPicPr>
                      <p:cNvPr id="3278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4709347"/>
                        <a:ext cx="8445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944F404-382D-462C-BF10-5A864B63487C}"/>
              </a:ext>
            </a:extLst>
          </p:cNvPr>
          <p:cNvSpPr txBox="1"/>
          <p:nvPr/>
        </p:nvSpPr>
        <p:spPr>
          <a:xfrm>
            <a:off x="1262062" y="5370513"/>
            <a:ext cx="5775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j-ea"/>
                <a:ea typeface="+mj-ea"/>
              </a:rPr>
              <a:t>上述方程称为过直线</a:t>
            </a:r>
            <a:r>
              <a:rPr lang="en-US" altLang="zh-CN" sz="2800" b="1" i="1" dirty="0">
                <a:ea typeface="+mj-ea"/>
              </a:rPr>
              <a:t>L</a:t>
            </a:r>
            <a:r>
              <a:rPr lang="zh-CN" altLang="en-US" sz="2800" b="1" dirty="0">
                <a:latin typeface="+mj-ea"/>
                <a:ea typeface="+mj-ea"/>
              </a:rPr>
              <a:t>的</a:t>
            </a:r>
            <a:r>
              <a:rPr lang="zh-CN" altLang="en-US" sz="2800" b="1" dirty="0">
                <a:solidFill>
                  <a:schemeClr val="accent6"/>
                </a:solidFill>
                <a:latin typeface="+mj-ea"/>
                <a:ea typeface="+mj-ea"/>
              </a:rPr>
              <a:t>平面束方程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8210" y="1857355"/>
            <a:ext cx="70375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注意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：该平面束方程不包括过交线的平面：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                    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32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205216"/>
              </p:ext>
            </p:extLst>
          </p:nvPr>
        </p:nvGraphicFramePr>
        <p:xfrm>
          <a:off x="7762876" y="1857355"/>
          <a:ext cx="38671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3" imgW="1523880" imgH="228600" progId="Equation.DSMT4">
                  <p:embed/>
                </p:oleObj>
              </mc:Choice>
              <mc:Fallback>
                <p:oleObj name="Equation" r:id="rId3" imgW="1523880" imgH="228600" progId="Equation.DSMT4">
                  <p:embed/>
                  <p:pic>
                    <p:nvPicPr>
                      <p:cNvPr id="327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76" y="1857355"/>
                        <a:ext cx="3867150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9AFBF17-9A73-4DA9-B284-91BFB34D2B35}"/>
              </a:ext>
            </a:extLst>
          </p:cNvPr>
          <p:cNvSpPr/>
          <p:nvPr/>
        </p:nvSpPr>
        <p:spPr>
          <a:xfrm>
            <a:off x="1138210" y="2687122"/>
            <a:ext cx="48734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在求平面束问题中不要漏解。</a:t>
            </a:r>
            <a:endParaRPr lang="zh-CN" altLang="en-US" sz="2800" dirty="0"/>
          </a:p>
        </p:txBody>
      </p:sp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73EF736F-FF9E-4A93-95BB-A26806F977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317404"/>
              </p:ext>
            </p:extLst>
          </p:nvPr>
        </p:nvGraphicFramePr>
        <p:xfrm>
          <a:off x="1138210" y="1232922"/>
          <a:ext cx="844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5" imgW="8445817" imgH="419417" progId="Equation.DSMT4">
                  <p:embed/>
                </p:oleObj>
              </mc:Choice>
              <mc:Fallback>
                <p:oleObj name="Equation" r:id="rId5" imgW="8445817" imgH="419417" progId="Equation.DSMT4">
                  <p:embed/>
                  <p:pic>
                    <p:nvPicPr>
                      <p:cNvPr id="3278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10" y="1232922"/>
                        <a:ext cx="8445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9ECE9D3-83C5-457B-8668-BBA443DA341E}"/>
              </a:ext>
            </a:extLst>
          </p:cNvPr>
          <p:cNvSpPr txBox="1"/>
          <p:nvPr/>
        </p:nvSpPr>
        <p:spPr>
          <a:xfrm>
            <a:off x="1138210" y="504369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j-ea"/>
                <a:ea typeface="+mj-ea"/>
              </a:rPr>
              <a:t>平面束方程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681513"/>
              </p:ext>
            </p:extLst>
          </p:nvPr>
        </p:nvGraphicFramePr>
        <p:xfrm>
          <a:off x="1816100" y="373063"/>
          <a:ext cx="8064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6" name="Microsoft 公式 3.0 中文版" r:id="rId3" imgW="8061318" imgH="1041265" progId="Equation.3">
                  <p:embed/>
                </p:oleObj>
              </mc:Choice>
              <mc:Fallback>
                <p:oleObj name="Microsoft 公式 3.0 中文版" r:id="rId3" imgW="8061318" imgH="1041265" progId="Equation.3">
                  <p:embed/>
                  <p:pic>
                    <p:nvPicPr>
                      <p:cNvPr id="32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373063"/>
                        <a:ext cx="80645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646104"/>
              </p:ext>
            </p:extLst>
          </p:nvPr>
        </p:nvGraphicFramePr>
        <p:xfrm>
          <a:off x="1168400" y="1471613"/>
          <a:ext cx="7454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7" name="Microsoft 公式 3.0 中文版" r:id="rId5" imgW="7451983" imgH="444624" progId="Equation.3">
                  <p:embed/>
                </p:oleObj>
              </mc:Choice>
              <mc:Fallback>
                <p:oleObj name="Microsoft 公式 3.0 中文版" r:id="rId5" imgW="7451983" imgH="444624" progId="Equation.3">
                  <p:embed/>
                  <p:pic>
                    <p:nvPicPr>
                      <p:cNvPr id="327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1471613"/>
                        <a:ext cx="7454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413409"/>
              </p:ext>
            </p:extLst>
          </p:nvPr>
        </p:nvGraphicFramePr>
        <p:xfrm>
          <a:off x="1268412" y="1949450"/>
          <a:ext cx="571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8" r:id="rId7" imgW="5712838" imgH="431930" progId="Equation.3">
                  <p:embed/>
                </p:oleObj>
              </mc:Choice>
              <mc:Fallback>
                <p:oleObj r:id="rId7" imgW="5712838" imgH="431930" progId="Equation.3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2" y="1949450"/>
                        <a:ext cx="5715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079500" y="2482849"/>
            <a:ext cx="1600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解</a:t>
            </a:r>
          </a:p>
        </p:txBody>
      </p:sp>
      <p:graphicFrame>
        <p:nvGraphicFramePr>
          <p:cNvPr id="33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955334"/>
              </p:ext>
            </p:extLst>
          </p:nvPr>
        </p:nvGraphicFramePr>
        <p:xfrm>
          <a:off x="1822450" y="2578098"/>
          <a:ext cx="440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9" r:id="rId9" imgW="4405305" imgH="444624" progId="Equation.3">
                  <p:embed/>
                </p:oleObj>
              </mc:Choice>
              <mc:Fallback>
                <p:oleObj r:id="rId9" imgW="4405305" imgH="444624" progId="Equation.3">
                  <p:embed/>
                  <p:pic>
                    <p:nvPicPr>
                      <p:cNvPr id="33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2578098"/>
                        <a:ext cx="4406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775242"/>
              </p:ext>
            </p:extLst>
          </p:nvPr>
        </p:nvGraphicFramePr>
        <p:xfrm>
          <a:off x="1790700" y="3092448"/>
          <a:ext cx="683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0" r:id="rId11" imgW="6829953" imgH="393846" progId="Equation.3">
                  <p:embed/>
                </p:oleObj>
              </mc:Choice>
              <mc:Fallback>
                <p:oleObj r:id="rId11" imgW="6829953" imgH="393846" progId="Equation.3">
                  <p:embed/>
                  <p:pic>
                    <p:nvPicPr>
                      <p:cNvPr id="337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3092448"/>
                        <a:ext cx="6832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123327"/>
              </p:ext>
            </p:extLst>
          </p:nvPr>
        </p:nvGraphicFramePr>
        <p:xfrm>
          <a:off x="996950" y="3643311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1" r:id="rId13" imgW="4430694" imgH="431930" progId="Equation.3">
                  <p:embed/>
                </p:oleObj>
              </mc:Choice>
              <mc:Fallback>
                <p:oleObj r:id="rId13" imgW="4430694" imgH="431930" progId="Equation.3">
                  <p:embed/>
                  <p:pic>
                    <p:nvPicPr>
                      <p:cNvPr id="33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643311"/>
                        <a:ext cx="44323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630848"/>
              </p:ext>
            </p:extLst>
          </p:nvPr>
        </p:nvGraphicFramePr>
        <p:xfrm>
          <a:off x="5232400" y="3438523"/>
          <a:ext cx="2400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2" r:id="rId15" imgW="2400617" imgH="838517" progId="Equation.3">
                  <p:embed/>
                </p:oleObj>
              </mc:Choice>
              <mc:Fallback>
                <p:oleObj r:id="rId15" imgW="2400617" imgH="838517" progId="Equation.3">
                  <p:embed/>
                  <p:pic>
                    <p:nvPicPr>
                      <p:cNvPr id="338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3438523"/>
                        <a:ext cx="24003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341066"/>
              </p:ext>
            </p:extLst>
          </p:nvPr>
        </p:nvGraphicFramePr>
        <p:xfrm>
          <a:off x="1524000" y="4260848"/>
          <a:ext cx="344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3" r:id="rId17" imgW="3440524" imgH="431930" progId="Equation.3">
                  <p:embed/>
                </p:oleObj>
              </mc:Choice>
              <mc:Fallback>
                <p:oleObj r:id="rId17" imgW="3440524" imgH="431930" progId="Equation.3">
                  <p:embed/>
                  <p:pic>
                    <p:nvPicPr>
                      <p:cNvPr id="338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260848"/>
                        <a:ext cx="3441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76080"/>
              </p:ext>
            </p:extLst>
          </p:nvPr>
        </p:nvGraphicFramePr>
        <p:xfrm>
          <a:off x="4686300" y="4311648"/>
          <a:ext cx="317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" r:id="rId19" imgW="3173940" imgH="393846" progId="Equation.3">
                  <p:embed/>
                </p:oleObj>
              </mc:Choice>
              <mc:Fallback>
                <p:oleObj r:id="rId19" imgW="3173940" imgH="393846" progId="Equation.3">
                  <p:embed/>
                  <p:pic>
                    <p:nvPicPr>
                      <p:cNvPr id="338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4311648"/>
                        <a:ext cx="3175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998789"/>
              </p:ext>
            </p:extLst>
          </p:nvPr>
        </p:nvGraphicFramePr>
        <p:xfrm>
          <a:off x="958850" y="4781548"/>
          <a:ext cx="4533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5" r:id="rId21" imgW="4532250" imgH="444624" progId="Equation.3">
                  <p:embed/>
                </p:oleObj>
              </mc:Choice>
              <mc:Fallback>
                <p:oleObj r:id="rId21" imgW="4532250" imgH="444624" progId="Equation.3">
                  <p:embed/>
                  <p:pic>
                    <p:nvPicPr>
                      <p:cNvPr id="338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4781548"/>
                        <a:ext cx="4533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360527"/>
              </p:ext>
            </p:extLst>
          </p:nvPr>
        </p:nvGraphicFramePr>
        <p:xfrm>
          <a:off x="1449388" y="5341936"/>
          <a:ext cx="5372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6" r:id="rId23" imgW="5372417" imgH="457517" progId="Equation.3">
                  <p:embed/>
                </p:oleObj>
              </mc:Choice>
              <mc:Fallback>
                <p:oleObj r:id="rId23" imgW="5372417" imgH="457517" progId="Equation.3">
                  <p:embed/>
                  <p:pic>
                    <p:nvPicPr>
                      <p:cNvPr id="338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5341936"/>
                        <a:ext cx="53721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809163"/>
              </p:ext>
            </p:extLst>
          </p:nvPr>
        </p:nvGraphicFramePr>
        <p:xfrm>
          <a:off x="6642100" y="5149848"/>
          <a:ext cx="180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" r:id="rId25" imgW="1803717" imgH="838517" progId="Equation.3">
                  <p:embed/>
                </p:oleObj>
              </mc:Choice>
              <mc:Fallback>
                <p:oleObj r:id="rId25" imgW="1803717" imgH="838517" progId="Equation.3">
                  <p:embed/>
                  <p:pic>
                    <p:nvPicPr>
                      <p:cNvPr id="338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5149848"/>
                        <a:ext cx="180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676185"/>
              </p:ext>
            </p:extLst>
          </p:nvPr>
        </p:nvGraphicFramePr>
        <p:xfrm>
          <a:off x="1447800" y="5967411"/>
          <a:ext cx="344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" r:id="rId27" imgW="3440524" imgH="431930" progId="Equation.3">
                  <p:embed/>
                </p:oleObj>
              </mc:Choice>
              <mc:Fallback>
                <p:oleObj r:id="rId27" imgW="3440524" imgH="431930" progId="Equation.3">
                  <p:embed/>
                  <p:pic>
                    <p:nvPicPr>
                      <p:cNvPr id="3380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967411"/>
                        <a:ext cx="3441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227093"/>
              </p:ext>
            </p:extLst>
          </p:nvPr>
        </p:nvGraphicFramePr>
        <p:xfrm>
          <a:off x="4622800" y="5988048"/>
          <a:ext cx="224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" r:id="rId29" imgW="2247242" imgH="393846" progId="Equation.3">
                  <p:embed/>
                </p:oleObj>
              </mc:Choice>
              <mc:Fallback>
                <p:oleObj r:id="rId29" imgW="2247242" imgH="393846" progId="Equation.3">
                  <p:embed/>
                  <p:pic>
                    <p:nvPicPr>
                      <p:cNvPr id="3380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5988048"/>
                        <a:ext cx="22479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743546"/>
              </p:ext>
            </p:extLst>
          </p:nvPr>
        </p:nvGraphicFramePr>
        <p:xfrm>
          <a:off x="4565650" y="3340098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" r:id="rId31" imgW="191231" imgH="420328" progId="Equation.3">
                  <p:embed/>
                </p:oleObj>
              </mc:Choice>
              <mc:Fallback>
                <p:oleObj r:id="rId31" imgW="191231" imgH="420328" progId="Equation.3">
                  <p:embed/>
                  <p:pic>
                    <p:nvPicPr>
                      <p:cNvPr id="3380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340098"/>
                        <a:ext cx="190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731793"/>
              </p:ext>
            </p:extLst>
          </p:nvPr>
        </p:nvGraphicFramePr>
        <p:xfrm>
          <a:off x="4565650" y="3340098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1" r:id="rId33" imgW="191231" imgH="420328" progId="Equation.3">
                  <p:embed/>
                </p:oleObj>
              </mc:Choice>
              <mc:Fallback>
                <p:oleObj r:id="rId33" imgW="191231" imgH="420328" progId="Equation.3">
                  <p:embed/>
                  <p:pic>
                    <p:nvPicPr>
                      <p:cNvPr id="3381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340098"/>
                        <a:ext cx="190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1168401" y="645319"/>
            <a:ext cx="38576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zh-CN" sz="2400" dirty="0">
              <a:solidFill>
                <a:srgbClr val="0000CC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3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3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1262062" y="518181"/>
            <a:ext cx="102965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练习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求过直线</a:t>
            </a:r>
            <a:r>
              <a:rPr lang="en-US" altLang="zh-CN" sz="2800" b="1" i="1" dirty="0">
                <a:latin typeface="+mj-lt"/>
                <a:ea typeface="黑体" pitchFamily="2" charset="-122"/>
              </a:rPr>
              <a:t>L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            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，且满足下列条件的平面</a:t>
            </a:r>
            <a:endParaRPr lang="zh-CN" altLang="zh-CN" sz="2400" dirty="0">
              <a:latin typeface="Times New Roman" pitchFamily="18" charset="0"/>
            </a:endParaRPr>
          </a:p>
        </p:txBody>
      </p: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1070F7A3-27E1-419E-B116-869055F8B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292388"/>
              </p:ext>
            </p:extLst>
          </p:nvPr>
        </p:nvGraphicFramePr>
        <p:xfrm>
          <a:off x="1393824" y="2758661"/>
          <a:ext cx="289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8" name="Equation" r:id="rId3" imgW="2895480" imgH="393480" progId="Equation.DSMT4">
                  <p:embed/>
                </p:oleObj>
              </mc:Choice>
              <mc:Fallback>
                <p:oleObj name="Equation" r:id="rId3" imgW="2895480" imgH="39348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119626BF-0D1D-4459-9863-40A0CE5DC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4" y="2758661"/>
                        <a:ext cx="289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F725E66E-AEBD-4C5A-B49A-BAFDAEFBD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593857"/>
              </p:ext>
            </p:extLst>
          </p:nvPr>
        </p:nvGraphicFramePr>
        <p:xfrm>
          <a:off x="6484934" y="2695160"/>
          <a:ext cx="304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9" name="Equation" r:id="rId5" imgW="3047760" imgH="393480" progId="Equation.DSMT4">
                  <p:embed/>
                </p:oleObj>
              </mc:Choice>
              <mc:Fallback>
                <p:oleObj name="Equation" r:id="rId5" imgW="3047760" imgH="393480" progId="Equation.DSMT4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1070F7A3-27E1-419E-B116-869055F8B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4" y="2695160"/>
                        <a:ext cx="3048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03EA3B39-DB03-45D2-896E-22D2A7C9D3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706096"/>
              </p:ext>
            </p:extLst>
          </p:nvPr>
        </p:nvGraphicFramePr>
        <p:xfrm>
          <a:off x="1317624" y="3520664"/>
          <a:ext cx="304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0" name="Equation" r:id="rId7" imgW="3047760" imgH="393480" progId="Equation.DSMT4">
                  <p:embed/>
                </p:oleObj>
              </mc:Choice>
              <mc:Fallback>
                <p:oleObj name="Equation" r:id="rId7" imgW="3047760" imgH="393480" progId="Equation.DSMT4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1070F7A3-27E1-419E-B116-869055F8B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4" y="3520664"/>
                        <a:ext cx="3048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96B9A101-2C49-4284-8730-026BFFE3E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651873"/>
              </p:ext>
            </p:extLst>
          </p:nvPr>
        </p:nvGraphicFramePr>
        <p:xfrm>
          <a:off x="6478587" y="3520655"/>
          <a:ext cx="3251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1" name="Equation" r:id="rId9" imgW="3251160" imgH="393480" progId="Equation.DSMT4">
                  <p:embed/>
                </p:oleObj>
              </mc:Choice>
              <mc:Fallback>
                <p:oleObj name="Equation" r:id="rId9" imgW="3251160" imgH="393480" progId="Equation.DSMT4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1070F7A3-27E1-419E-B116-869055F8B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587" y="3520655"/>
                        <a:ext cx="3251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128D96A0-A3EF-45A5-9840-6DFAD5D34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353210"/>
              </p:ext>
            </p:extLst>
          </p:nvPr>
        </p:nvGraphicFramePr>
        <p:xfrm>
          <a:off x="1338262" y="2022177"/>
          <a:ext cx="571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2" r:id="rId11" imgW="5712838" imgH="431930" progId="Equation.3">
                  <p:embed/>
                </p:oleObj>
              </mc:Choice>
              <mc:Fallback>
                <p:oleObj r:id="rId11" imgW="5712838" imgH="431930" progId="Equation.3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2" y="2022177"/>
                        <a:ext cx="5715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1E474692-0DBD-4930-BB8C-99DA0FB0B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550350"/>
              </p:ext>
            </p:extLst>
          </p:nvPr>
        </p:nvGraphicFramePr>
        <p:xfrm>
          <a:off x="4289424" y="278141"/>
          <a:ext cx="2908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3" name="Equation" r:id="rId13" imgW="2908080" imgH="1002960" progId="Equation.DSMT4">
                  <p:embed/>
                </p:oleObj>
              </mc:Choice>
              <mc:Fallback>
                <p:oleObj name="Equation" r:id="rId13" imgW="2908080" imgH="1002960" progId="Equation.DSMT4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1070F7A3-27E1-419E-B116-869055F8B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424" y="278141"/>
                        <a:ext cx="2908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9EC17DB-29A3-44D7-BA2E-D8FD5527198F}"/>
              </a:ext>
            </a:extLst>
          </p:cNvPr>
          <p:cNvSpPr/>
          <p:nvPr/>
        </p:nvSpPr>
        <p:spPr>
          <a:xfrm>
            <a:off x="1338262" y="1239714"/>
            <a:ext cx="1087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方程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5724" y="471465"/>
            <a:ext cx="741741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7</a:t>
            </a:r>
            <a:r>
              <a:rPr lang="zh-CN" altLang="en-US" sz="28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求直线                       在平面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上的投影直线的方程。</a:t>
            </a:r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24606"/>
              </p:ext>
            </p:extLst>
          </p:nvPr>
        </p:nvGraphicFramePr>
        <p:xfrm>
          <a:off x="3508375" y="227008"/>
          <a:ext cx="3948112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4" name="Equation" r:id="rId3" imgW="1333440" imgH="457200" progId="Equation.DSMT4">
                  <p:embed/>
                </p:oleObj>
              </mc:Choice>
              <mc:Fallback>
                <p:oleObj name="Equation" r:id="rId3" imgW="1333440" imgH="457200" progId="Equation.DSMT4">
                  <p:embed/>
                  <p:pic>
                    <p:nvPicPr>
                      <p:cNvPr id="22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75" y="227008"/>
                        <a:ext cx="3948112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701268"/>
              </p:ext>
            </p:extLst>
          </p:nvPr>
        </p:nvGraphicFramePr>
        <p:xfrm>
          <a:off x="8753139" y="542920"/>
          <a:ext cx="30829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5" name="Equation" r:id="rId5" imgW="1041120" imgH="203040" progId="Equation.DSMT4">
                  <p:embed/>
                </p:oleObj>
              </mc:Choice>
              <mc:Fallback>
                <p:oleObj name="Equation" r:id="rId5" imgW="1041120" imgH="203040" progId="Equation.DSMT4">
                  <p:embed/>
                  <p:pic>
                    <p:nvPicPr>
                      <p:cNvPr id="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3139" y="542920"/>
                        <a:ext cx="308292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07162" y="2058984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解：过直线的平面束方程为</a:t>
            </a:r>
          </a:p>
        </p:txBody>
      </p:sp>
      <p:graphicFrame>
        <p:nvGraphicFramePr>
          <p:cNvPr id="32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825238"/>
              </p:ext>
            </p:extLst>
          </p:nvPr>
        </p:nvGraphicFramePr>
        <p:xfrm>
          <a:off x="2335856" y="2559050"/>
          <a:ext cx="5893634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6" name="Equation" r:id="rId7" imgW="2095200" imgH="203040" progId="Equation.DSMT4">
                  <p:embed/>
                </p:oleObj>
              </mc:Choice>
              <mc:Fallback>
                <p:oleObj name="Equation" r:id="rId7" imgW="2095200" imgH="203040" progId="Equation.DSMT4">
                  <p:embed/>
                  <p:pic>
                    <p:nvPicPr>
                      <p:cNvPr id="327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856" y="2559050"/>
                        <a:ext cx="5893634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07162" y="3059116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即</a:t>
            </a: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086100"/>
              </p:ext>
            </p:extLst>
          </p:nvPr>
        </p:nvGraphicFramePr>
        <p:xfrm>
          <a:off x="1978666" y="3144152"/>
          <a:ext cx="7358114" cy="557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7" name="Equation" r:id="rId9" imgW="2679480" imgH="203040" progId="Equation.DSMT4">
                  <p:embed/>
                </p:oleObj>
              </mc:Choice>
              <mc:Fallback>
                <p:oleObj name="Equation" r:id="rId9" imgW="2679480" imgH="203040" progId="Equation.DSMT4">
                  <p:embed/>
                  <p:pic>
                    <p:nvPicPr>
                      <p:cNvPr id="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666" y="3144152"/>
                        <a:ext cx="7358114" cy="557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35724" y="3702058"/>
            <a:ext cx="5969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与平面                  垂直，则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019805"/>
              </p:ext>
            </p:extLst>
          </p:nvPr>
        </p:nvGraphicFramePr>
        <p:xfrm>
          <a:off x="2621609" y="3773497"/>
          <a:ext cx="30829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8" name="Equation" r:id="rId11" imgW="1041120" imgH="203040" progId="Equation.DSMT4">
                  <p:embed/>
                </p:oleObj>
              </mc:Choice>
              <mc:Fallback>
                <p:oleObj name="Equation" r:id="rId11" imgW="1041120" imgH="20304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609" y="3773497"/>
                        <a:ext cx="308292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043081"/>
              </p:ext>
            </p:extLst>
          </p:nvPr>
        </p:nvGraphicFramePr>
        <p:xfrm>
          <a:off x="2748627" y="4314831"/>
          <a:ext cx="474503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9" name="Equation" r:id="rId13" imgW="1815840" imgH="203040" progId="Equation.DSMT4">
                  <p:embed/>
                </p:oleObj>
              </mc:Choice>
              <mc:Fallback>
                <p:oleObj name="Equation" r:id="rId13" imgW="1815840" imgH="203040" progId="Equation.DSMT4">
                  <p:embed/>
                  <p:pic>
                    <p:nvPicPr>
                      <p:cNvPr id="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627" y="4314831"/>
                        <a:ext cx="4745038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0039" y="4916504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解得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656215"/>
              </p:ext>
            </p:extLst>
          </p:nvPr>
        </p:nvGraphicFramePr>
        <p:xfrm>
          <a:off x="4385341" y="4949830"/>
          <a:ext cx="13604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" name="Equation" r:id="rId15" imgW="520560" imgH="177480" progId="Equation.DSMT4">
                  <p:embed/>
                </p:oleObj>
              </mc:Choice>
              <mc:Fallback>
                <p:oleObj name="Equation" r:id="rId15" imgW="520560" imgH="17748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341" y="4949830"/>
                        <a:ext cx="1360487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50038" y="5559446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所求直线方程为</a:t>
            </a:r>
          </a:p>
        </p:txBody>
      </p:sp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413230"/>
              </p:ext>
            </p:extLst>
          </p:nvPr>
        </p:nvGraphicFramePr>
        <p:xfrm>
          <a:off x="4407558" y="5494342"/>
          <a:ext cx="3948112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1" name="Equation" r:id="rId17" imgW="1333440" imgH="457200" progId="Equation.DSMT4">
                  <p:embed/>
                </p:oleObj>
              </mc:Choice>
              <mc:Fallback>
                <p:oleObj name="Equation" r:id="rId17" imgW="1333440" imgH="457200" progId="Equation.DSMT4">
                  <p:embed/>
                  <p:pic>
                    <p:nvPicPr>
                      <p:cNvPr id="1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7558" y="5494342"/>
                        <a:ext cx="3948112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2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93A0F6D-B1B2-4E35-90B6-8A5A61F6CDBE}"/>
              </a:ext>
            </a:extLst>
          </p:cNvPr>
          <p:cNvSpPr txBox="1"/>
          <p:nvPr/>
        </p:nvSpPr>
        <p:spPr>
          <a:xfrm>
            <a:off x="1185863" y="571500"/>
            <a:ext cx="9769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j-ea"/>
                <a:ea typeface="+mj-ea"/>
              </a:rPr>
              <a:t>思考题：求直线                与直线               的</a:t>
            </a:r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50490516-A169-44E3-A67C-249DCB73C7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098621"/>
              </p:ext>
            </p:extLst>
          </p:nvPr>
        </p:nvGraphicFramePr>
        <p:xfrm>
          <a:off x="3895259" y="446088"/>
          <a:ext cx="25781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3" imgW="2577960" imgH="1002960" progId="Equation.DSMT4">
                  <p:embed/>
                </p:oleObj>
              </mc:Choice>
              <mc:Fallback>
                <p:oleObj name="Equation" r:id="rId3" imgW="2577960" imgH="100296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119626BF-0D1D-4459-9863-40A0CE5DC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259" y="446088"/>
                        <a:ext cx="25781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64B003C1-B1E6-4D9C-824D-209029029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255655"/>
              </p:ext>
            </p:extLst>
          </p:nvPr>
        </p:nvGraphicFramePr>
        <p:xfrm>
          <a:off x="7875515" y="662920"/>
          <a:ext cx="243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5" imgW="2438280" imgH="431640" progId="Equation.DSMT4">
                  <p:embed/>
                </p:oleObj>
              </mc:Choice>
              <mc:Fallback>
                <p:oleObj name="Equation" r:id="rId5" imgW="2438280" imgH="43164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119626BF-0D1D-4459-9863-40A0CE5DC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5515" y="662920"/>
                        <a:ext cx="2438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62254F3-1D97-4752-A9B7-2F8F9DA5541E}"/>
              </a:ext>
            </a:extLst>
          </p:cNvPr>
          <p:cNvSpPr txBox="1"/>
          <p:nvPr/>
        </p:nvSpPr>
        <p:spPr>
          <a:xfrm>
            <a:off x="1185863" y="1585913"/>
            <a:ext cx="2169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j-ea"/>
                <a:ea typeface="+mj-ea"/>
              </a:rPr>
              <a:t>公垂线方程</a:t>
            </a:r>
            <a:r>
              <a:rPr lang="en-US" altLang="zh-CN" sz="2800" b="1" dirty="0">
                <a:latin typeface="+mj-ea"/>
                <a:ea typeface="+mj-ea"/>
              </a:rPr>
              <a:t>.</a:t>
            </a:r>
            <a:endParaRPr lang="zh-CN" altLang="en-US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57721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9999" y="1225550"/>
            <a:ext cx="3065463" cy="533400"/>
          </a:xfrm>
        </p:spPr>
        <p:txBody>
          <a:bodyPr/>
          <a:lstStyle/>
          <a:p>
            <a:pPr algn="l" eaLnBrk="1" hangingPunct="1"/>
            <a:r>
              <a:rPr lang="zh-CN" altLang="zh-CN" sz="2800">
                <a:solidFill>
                  <a:srgbClr val="0000CC"/>
                </a:solidFill>
                <a:latin typeface="Times New Roman" pitchFamily="18" charset="0"/>
                <a:ea typeface="黑体" pitchFamily="2" charset="-122"/>
              </a:rPr>
              <a:t>1. </a:t>
            </a:r>
            <a:r>
              <a:rPr lang="zh-CN" altLang="en-US" sz="2800">
                <a:solidFill>
                  <a:srgbClr val="0000CC"/>
                </a:solidFill>
                <a:latin typeface="Times New Roman" pitchFamily="18" charset="0"/>
                <a:ea typeface="黑体" pitchFamily="2" charset="-122"/>
              </a:rPr>
              <a:t>空间直线方程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1879598" y="1971676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一般式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879598" y="3205163"/>
            <a:ext cx="1524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对称式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1879598" y="4500563"/>
            <a:ext cx="1524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参数式</a:t>
            </a:r>
          </a:p>
        </p:txBody>
      </p:sp>
      <p:graphicFrame>
        <p:nvGraphicFramePr>
          <p:cNvPr id="35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92404"/>
              </p:ext>
            </p:extLst>
          </p:nvPr>
        </p:nvGraphicFramePr>
        <p:xfrm>
          <a:off x="3170237" y="1793875"/>
          <a:ext cx="40989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8" r:id="rId3" imgW="4100637" imgH="1041265" progId="Equation.3">
                  <p:embed/>
                </p:oleObj>
              </mc:Choice>
              <mc:Fallback>
                <p:oleObj r:id="rId3" imgW="4100637" imgH="1041265" progId="Equation.3">
                  <p:embed/>
                  <p:pic>
                    <p:nvPicPr>
                      <p:cNvPr id="358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7" y="1793875"/>
                        <a:ext cx="4098925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106975"/>
              </p:ext>
            </p:extLst>
          </p:nvPr>
        </p:nvGraphicFramePr>
        <p:xfrm>
          <a:off x="3086098" y="3990975"/>
          <a:ext cx="22860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" r:id="rId5" imgW="2286317" imgH="1625917" progId="Equation.3">
                  <p:embed/>
                </p:oleObj>
              </mc:Choice>
              <mc:Fallback>
                <p:oleObj r:id="rId5" imgW="2286317" imgH="1625917" progId="Equation.3">
                  <p:embed/>
                  <p:pic>
                    <p:nvPicPr>
                      <p:cNvPr id="358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098" y="3990975"/>
                        <a:ext cx="22860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720344"/>
              </p:ext>
            </p:extLst>
          </p:nvPr>
        </p:nvGraphicFramePr>
        <p:xfrm>
          <a:off x="3194048" y="3076575"/>
          <a:ext cx="3835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0" r:id="rId7" imgW="3835717" imgH="965517" progId="Equation.3">
                  <p:embed/>
                </p:oleObj>
              </mc:Choice>
              <mc:Fallback>
                <p:oleObj r:id="rId7" imgW="3835717" imgH="965517" progId="Equation.3">
                  <p:embed/>
                  <p:pic>
                    <p:nvPicPr>
                      <p:cNvPr id="358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48" y="3076575"/>
                        <a:ext cx="38354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815307"/>
              </p:ext>
            </p:extLst>
          </p:nvPr>
        </p:nvGraphicFramePr>
        <p:xfrm>
          <a:off x="3174998" y="5753100"/>
          <a:ext cx="2832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1" r:id="rId9" imgW="2832417" imgH="470217" progId="Equation.3">
                  <p:embed/>
                </p:oleObj>
              </mc:Choice>
              <mc:Fallback>
                <p:oleObj r:id="rId9" imgW="2832417" imgH="470217" progId="Equation.3">
                  <p:embed/>
                  <p:pic>
                    <p:nvPicPr>
                      <p:cNvPr id="358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998" y="5753100"/>
                        <a:ext cx="2832100" cy="46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5240337" y="516732"/>
            <a:ext cx="2028825" cy="58896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zh-CN" sz="32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 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内容小结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  <p:bldP spid="35844" grpId="0" build="p" autoUpdateAnimBg="0"/>
      <p:bldP spid="35845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242581"/>
              </p:ext>
            </p:extLst>
          </p:nvPr>
        </p:nvGraphicFramePr>
        <p:xfrm>
          <a:off x="2452688" y="1048543"/>
          <a:ext cx="4305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7" r:id="rId3" imgW="4305617" imgH="978217" progId="Equation.3">
                  <p:embed/>
                </p:oleObj>
              </mc:Choice>
              <mc:Fallback>
                <p:oleObj r:id="rId3" imgW="4305617" imgH="978217" progId="Equation.3">
                  <p:embed/>
                  <p:pic>
                    <p:nvPicPr>
                      <p:cNvPr id="368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1048543"/>
                        <a:ext cx="43053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1627188" y="1248569"/>
            <a:ext cx="1143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直线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603549"/>
              </p:ext>
            </p:extLst>
          </p:nvPr>
        </p:nvGraphicFramePr>
        <p:xfrm>
          <a:off x="6237288" y="3219847"/>
          <a:ext cx="35544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8" r:id="rId5" imgW="3556317" imgH="457517" progId="Equation.3">
                  <p:embed/>
                </p:oleObj>
              </mc:Choice>
              <mc:Fallback>
                <p:oleObj r:id="rId5" imgW="3556317" imgH="457517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288" y="3219847"/>
                        <a:ext cx="355441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301465"/>
              </p:ext>
            </p:extLst>
          </p:nvPr>
        </p:nvGraphicFramePr>
        <p:xfrm>
          <a:off x="2449513" y="2001043"/>
          <a:ext cx="43799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9" r:id="rId7" imgW="4381817" imgH="978217" progId="Equation.3">
                  <p:embed/>
                </p:oleObj>
              </mc:Choice>
              <mc:Fallback>
                <p:oleObj r:id="rId7" imgW="4381817" imgH="978217" progId="Equation.3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2001043"/>
                        <a:ext cx="4379912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704710"/>
              </p:ext>
            </p:extLst>
          </p:nvPr>
        </p:nvGraphicFramePr>
        <p:xfrm>
          <a:off x="6470651" y="3899297"/>
          <a:ext cx="20685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0" r:id="rId9" imgW="2070417" imgH="978217" progId="Equation.3">
                  <p:embed/>
                </p:oleObj>
              </mc:Choice>
              <mc:Fallback>
                <p:oleObj r:id="rId9" imgW="2070417" imgH="978217" progId="Equation.3">
                  <p:embed/>
                  <p:pic>
                    <p:nvPicPr>
                      <p:cNvPr id="36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651" y="3899297"/>
                        <a:ext cx="2068513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Rectangle 7"/>
          <p:cNvSpPr>
            <a:spLocks noGrp="1" noChangeArrowheads="1"/>
          </p:cNvSpPr>
          <p:nvPr>
            <p:ph type="title"/>
          </p:nvPr>
        </p:nvSpPr>
        <p:spPr>
          <a:xfrm>
            <a:off x="1511300" y="434181"/>
            <a:ext cx="2832100" cy="533400"/>
          </a:xfrm>
        </p:spPr>
        <p:txBody>
          <a:bodyPr/>
          <a:lstStyle/>
          <a:p>
            <a:pPr eaLnBrk="1" hangingPunct="1"/>
            <a:r>
              <a:rPr lang="zh-CN" altLang="zh-CN" sz="2800">
                <a:solidFill>
                  <a:srgbClr val="0000CC"/>
                </a:solidFill>
                <a:latin typeface="Times New Roman" pitchFamily="18" charset="0"/>
                <a:ea typeface="黑体" pitchFamily="2" charset="-12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Times New Roman" pitchFamily="18" charset="0"/>
                <a:ea typeface="黑体" pitchFamily="2" charset="-122"/>
              </a:rPr>
              <a:t>线与线的关系</a:t>
            </a: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1600200" y="2134394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直线</a:t>
            </a: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1600200" y="5145485"/>
            <a:ext cx="228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夹角公式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:</a:t>
            </a:r>
          </a:p>
        </p:txBody>
      </p:sp>
      <p:sp>
        <p:nvSpPr>
          <p:cNvPr id="36874" name="AutoShape 10"/>
          <p:cNvSpPr>
            <a:spLocks noChangeArrowheads="1"/>
          </p:cNvSpPr>
          <p:nvPr/>
        </p:nvSpPr>
        <p:spPr bwMode="auto">
          <a:xfrm>
            <a:off x="5353051" y="3378597"/>
            <a:ext cx="792163" cy="152400"/>
          </a:xfrm>
          <a:prstGeom prst="leftRightArrow">
            <a:avLst>
              <a:gd name="adj1" fmla="val 50000"/>
              <a:gd name="adj2" fmla="val 1039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AutoShape 11"/>
          <p:cNvSpPr>
            <a:spLocks noChangeArrowheads="1"/>
          </p:cNvSpPr>
          <p:nvPr/>
        </p:nvSpPr>
        <p:spPr bwMode="auto">
          <a:xfrm>
            <a:off x="5486401" y="4321572"/>
            <a:ext cx="792163" cy="152400"/>
          </a:xfrm>
          <a:prstGeom prst="leftRightArrow">
            <a:avLst>
              <a:gd name="adj1" fmla="val 50000"/>
              <a:gd name="adj2" fmla="val 1039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862763" y="1191418"/>
            <a:ext cx="2487612" cy="457200"/>
            <a:chOff x="0" y="0"/>
            <a:chExt cx="1567" cy="288"/>
          </a:xfrm>
        </p:grpSpPr>
        <p:graphicFrame>
          <p:nvGraphicFramePr>
            <p:cNvPr id="35852" name="Object 13"/>
            <p:cNvGraphicFramePr>
              <a:graphicFrameLocks noChangeAspect="1"/>
            </p:cNvGraphicFramePr>
            <p:nvPr/>
          </p:nvGraphicFramePr>
          <p:xfrm>
            <a:off x="0" y="0"/>
            <a:ext cx="156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81" r:id="rId11" imgW="2489517" imgH="457517" progId="Equation.3">
                    <p:embed/>
                  </p:oleObj>
                </mc:Choice>
                <mc:Fallback>
                  <p:oleObj r:id="rId11" imgW="2489517" imgH="457517" progId="Equation.3">
                    <p:embed/>
                    <p:pic>
                      <p:nvPicPr>
                        <p:cNvPr id="35852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67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5" name="Line 14"/>
            <p:cNvSpPr>
              <a:spLocks noChangeShapeType="1"/>
            </p:cNvSpPr>
            <p:nvPr/>
          </p:nvSpPr>
          <p:spPr bwMode="auto">
            <a:xfrm>
              <a:off x="30" y="21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6908800" y="2199481"/>
            <a:ext cx="2584450" cy="457200"/>
            <a:chOff x="0" y="0"/>
            <a:chExt cx="1628" cy="288"/>
          </a:xfrm>
        </p:grpSpPr>
        <p:sp>
          <p:nvSpPr>
            <p:cNvPr id="35884" name="Line 16"/>
            <p:cNvSpPr>
              <a:spLocks noChangeShapeType="1"/>
            </p:cNvSpPr>
            <p:nvPr/>
          </p:nvSpPr>
          <p:spPr bwMode="auto">
            <a:xfrm>
              <a:off x="0" y="11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35851" name="Object 17"/>
            <p:cNvGraphicFramePr>
              <a:graphicFrameLocks noChangeAspect="1"/>
            </p:cNvGraphicFramePr>
            <p:nvPr/>
          </p:nvGraphicFramePr>
          <p:xfrm>
            <a:off x="13" y="0"/>
            <a:ext cx="161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82" r:id="rId13" imgW="2565717" imgH="457517" progId="Equation.3">
                    <p:embed/>
                  </p:oleObj>
                </mc:Choice>
                <mc:Fallback>
                  <p:oleObj r:id="rId13" imgW="2565717" imgH="457517" progId="Equation.3">
                    <p:embed/>
                    <p:pic>
                      <p:nvPicPr>
                        <p:cNvPr id="3585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" y="0"/>
                          <a:ext cx="1615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810000" y="3232547"/>
            <a:ext cx="1454150" cy="457200"/>
            <a:chOff x="0" y="0"/>
            <a:chExt cx="916" cy="288"/>
          </a:xfrm>
        </p:grpSpPr>
        <p:graphicFrame>
          <p:nvGraphicFramePr>
            <p:cNvPr id="35850" name="Object 19"/>
            <p:cNvGraphicFramePr>
              <a:graphicFrameLocks noChangeAspect="1"/>
            </p:cNvGraphicFramePr>
            <p:nvPr/>
          </p:nvGraphicFramePr>
          <p:xfrm>
            <a:off x="36" y="0"/>
            <a:ext cx="8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83" r:id="rId15" imgW="1399138" imgH="458113" progId="Equation.3">
                    <p:embed/>
                  </p:oleObj>
                </mc:Choice>
                <mc:Fallback>
                  <p:oleObj r:id="rId15" imgW="1399138" imgH="458113" progId="Equation.3">
                    <p:embed/>
                    <p:pic>
                      <p:nvPicPr>
                        <p:cNvPr id="3585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" y="0"/>
                          <a:ext cx="88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2" name="Line 20"/>
            <p:cNvSpPr>
              <a:spLocks noChangeShapeType="1"/>
            </p:cNvSpPr>
            <p:nvPr/>
          </p:nvSpPr>
          <p:spPr bwMode="auto">
            <a:xfrm>
              <a:off x="0" y="17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5883" name="Line 21"/>
            <p:cNvSpPr>
              <a:spLocks noChangeShapeType="1"/>
            </p:cNvSpPr>
            <p:nvPr/>
          </p:nvSpPr>
          <p:spPr bwMode="auto">
            <a:xfrm>
              <a:off x="336" y="17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368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21362"/>
              </p:ext>
            </p:extLst>
          </p:nvPr>
        </p:nvGraphicFramePr>
        <p:xfrm>
          <a:off x="1600200" y="3232547"/>
          <a:ext cx="116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4" r:id="rId17" imgW="1170240" imgH="458113" progId="Equation.3">
                  <p:embed/>
                </p:oleObj>
              </mc:Choice>
              <mc:Fallback>
                <p:oleObj r:id="rId17" imgW="1170240" imgH="458113" progId="Equation.3">
                  <p:embed/>
                  <p:pic>
                    <p:nvPicPr>
                      <p:cNvPr id="368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32547"/>
                        <a:ext cx="1168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319110"/>
              </p:ext>
            </p:extLst>
          </p:nvPr>
        </p:nvGraphicFramePr>
        <p:xfrm>
          <a:off x="1663700" y="4210447"/>
          <a:ext cx="1054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5" r:id="rId19" imgW="1055791" imgH="458113" progId="Equation.3">
                  <p:embed/>
                </p:oleObj>
              </mc:Choice>
              <mc:Fallback>
                <p:oleObj r:id="rId19" imgW="1055791" imgH="458113" progId="Equation.3">
                  <p:embed/>
                  <p:pic>
                    <p:nvPicPr>
                      <p:cNvPr id="368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4210447"/>
                        <a:ext cx="10541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3810000" y="4202511"/>
            <a:ext cx="1517650" cy="465137"/>
            <a:chOff x="0" y="0"/>
            <a:chExt cx="956" cy="293"/>
          </a:xfrm>
        </p:grpSpPr>
        <p:sp>
          <p:nvSpPr>
            <p:cNvPr id="35879" name="Line 25"/>
            <p:cNvSpPr>
              <a:spLocks noChangeShapeType="1"/>
            </p:cNvSpPr>
            <p:nvPr/>
          </p:nvSpPr>
          <p:spPr bwMode="auto">
            <a:xfrm>
              <a:off x="797" y="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35849" name="Object 26"/>
            <p:cNvGraphicFramePr>
              <a:graphicFrameLocks noChangeAspect="1"/>
            </p:cNvGraphicFramePr>
            <p:nvPr/>
          </p:nvGraphicFramePr>
          <p:xfrm>
            <a:off x="0" y="5"/>
            <a:ext cx="95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86" r:id="rId21" imgW="1511617" imgH="457517" progId="Equation.3">
                    <p:embed/>
                  </p:oleObj>
                </mc:Choice>
                <mc:Fallback>
                  <p:oleObj r:id="rId21" imgW="1511617" imgH="457517" progId="Equation.3">
                    <p:embed/>
                    <p:pic>
                      <p:nvPicPr>
                        <p:cNvPr id="35849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"/>
                          <a:ext cx="95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0" name="Line 27"/>
            <p:cNvSpPr>
              <a:spLocks noChangeShapeType="1"/>
            </p:cNvSpPr>
            <p:nvPr/>
          </p:nvSpPr>
          <p:spPr bwMode="auto">
            <a:xfrm>
              <a:off x="0" y="2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5881" name="Line 28"/>
            <p:cNvSpPr>
              <a:spLocks noChangeShapeType="1"/>
            </p:cNvSpPr>
            <p:nvPr/>
          </p:nvSpPr>
          <p:spPr bwMode="auto">
            <a:xfrm>
              <a:off x="361" y="2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6893" name="AutoShape 29"/>
          <p:cNvSpPr>
            <a:spLocks noChangeArrowheads="1"/>
          </p:cNvSpPr>
          <p:nvPr/>
        </p:nvSpPr>
        <p:spPr bwMode="auto">
          <a:xfrm>
            <a:off x="2895601" y="3378597"/>
            <a:ext cx="792163" cy="152400"/>
          </a:xfrm>
          <a:prstGeom prst="leftRightArrow">
            <a:avLst>
              <a:gd name="adj1" fmla="val 50000"/>
              <a:gd name="adj2" fmla="val 1039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4" name="AutoShape 30"/>
          <p:cNvSpPr>
            <a:spLocks noChangeArrowheads="1"/>
          </p:cNvSpPr>
          <p:nvPr/>
        </p:nvSpPr>
        <p:spPr bwMode="auto">
          <a:xfrm>
            <a:off x="2895601" y="4369197"/>
            <a:ext cx="792163" cy="152400"/>
          </a:xfrm>
          <a:prstGeom prst="leftRightArrow">
            <a:avLst>
              <a:gd name="adj1" fmla="val 50000"/>
              <a:gd name="adj2" fmla="val 1039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3433763" y="4972447"/>
            <a:ext cx="2489200" cy="1003300"/>
            <a:chOff x="0" y="0"/>
            <a:chExt cx="1568" cy="632"/>
          </a:xfrm>
        </p:grpSpPr>
        <p:graphicFrame>
          <p:nvGraphicFramePr>
            <p:cNvPr id="35848" name="Object 32"/>
            <p:cNvGraphicFramePr>
              <a:graphicFrameLocks noChangeAspect="1"/>
            </p:cNvGraphicFramePr>
            <p:nvPr/>
          </p:nvGraphicFramePr>
          <p:xfrm>
            <a:off x="0" y="0"/>
            <a:ext cx="1568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87" r:id="rId23" imgW="2488437" imgH="1003182" progId="Equation.3">
                    <p:embed/>
                  </p:oleObj>
                </mc:Choice>
                <mc:Fallback>
                  <p:oleObj r:id="rId23" imgW="2488437" imgH="1003182" progId="Equation.3">
                    <p:embed/>
                    <p:pic>
                      <p:nvPicPr>
                        <p:cNvPr id="35848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68" cy="6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5" name="Line 33"/>
            <p:cNvSpPr>
              <a:spLocks noChangeShapeType="1"/>
            </p:cNvSpPr>
            <p:nvPr/>
          </p:nvSpPr>
          <p:spPr bwMode="auto">
            <a:xfrm>
              <a:off x="876" y="3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5876" name="Line 34"/>
            <p:cNvSpPr>
              <a:spLocks noChangeShapeType="1"/>
            </p:cNvSpPr>
            <p:nvPr/>
          </p:nvSpPr>
          <p:spPr bwMode="auto">
            <a:xfrm>
              <a:off x="1200" y="3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5877" name="Line 35"/>
            <p:cNvSpPr>
              <a:spLocks noChangeShapeType="1"/>
            </p:cNvSpPr>
            <p:nvPr/>
          </p:nvSpPr>
          <p:spPr bwMode="auto">
            <a:xfrm>
              <a:off x="864" y="36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5878" name="Line 36"/>
            <p:cNvSpPr>
              <a:spLocks noChangeShapeType="1"/>
            </p:cNvSpPr>
            <p:nvPr/>
          </p:nvSpPr>
          <p:spPr bwMode="auto">
            <a:xfrm>
              <a:off x="1233" y="36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  <p:bldP spid="36872" grpId="0" autoUpdateAnimBg="0"/>
      <p:bldP spid="36873" grpId="0" autoUpdateAnimBg="0"/>
      <p:bldP spid="36874" grpId="0" animBg="1"/>
      <p:bldP spid="36875" grpId="0" animBg="1"/>
      <p:bldP spid="36893" grpId="0" animBg="1"/>
      <p:bldP spid="3689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964916"/>
              </p:ext>
            </p:extLst>
          </p:nvPr>
        </p:nvGraphicFramePr>
        <p:xfrm>
          <a:off x="2803525" y="1606550"/>
          <a:ext cx="358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1" r:id="rId3" imgW="3578611" imgH="406365" progId="Equation.3">
                  <p:embed/>
                </p:oleObj>
              </mc:Choice>
              <mc:Fallback>
                <p:oleObj r:id="rId3" imgW="3578611" imgH="406365" progId="Equation.3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1606550"/>
                        <a:ext cx="3581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989618"/>
              </p:ext>
            </p:extLst>
          </p:nvPr>
        </p:nvGraphicFramePr>
        <p:xfrm>
          <a:off x="5989639" y="2984500"/>
          <a:ext cx="1866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" r:id="rId5" imgW="1867217" imgH="889317" progId="Equation.3">
                  <p:embed/>
                </p:oleObj>
              </mc:Choice>
              <mc:Fallback>
                <p:oleObj r:id="rId5" imgW="1867217" imgH="889317" progId="Equation.3">
                  <p:embed/>
                  <p:pic>
                    <p:nvPicPr>
                      <p:cNvPr id="37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639" y="2984500"/>
                        <a:ext cx="18669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381125" y="1485901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平面 </a:t>
            </a:r>
            <a:r>
              <a:rPr lang="zh-CN" altLang="en-US" sz="2800" b="1">
                <a:latin typeface="Times New Roman" pitchFamily="18" charset="0"/>
                <a:ea typeface="黑体" pitchFamily="2" charset="-122"/>
                <a:sym typeface="Symbol" pitchFamily="18" charset="2"/>
              </a:rPr>
              <a:t> 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: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1487489" y="3203575"/>
            <a:ext cx="1447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i="1">
                <a:latin typeface="Times New Roman" pitchFamily="18" charset="0"/>
                <a:ea typeface="黑体" pitchFamily="2" charset="-122"/>
                <a:sym typeface="Symbol" pitchFamily="18" charset="2"/>
              </a:rPr>
              <a:t>L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⊥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  <a:sym typeface="Symbol" pitchFamily="18" charset="2"/>
              </a:rPr>
              <a:t>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1411289" y="4027488"/>
            <a:ext cx="137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>
                <a:latin typeface="Times New Roman" pitchFamily="18" charset="0"/>
                <a:ea typeface="黑体" pitchFamily="2" charset="-122"/>
              </a:rPr>
              <a:t>L // </a:t>
            </a:r>
            <a:r>
              <a:rPr lang="zh-CN" altLang="zh-CN" sz="2800" b="1">
                <a:latin typeface="Times New Roman" pitchFamily="18" charset="0"/>
                <a:ea typeface="黑体" pitchFamily="2" charset="-122"/>
                <a:sym typeface="Symbol" pitchFamily="18" charset="2"/>
              </a:rPr>
              <a:t></a:t>
            </a:r>
            <a:endParaRPr lang="zh-CN" altLang="zh-CN" sz="2800" b="1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411289" y="5032375"/>
            <a:ext cx="1905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夹角公式</a:t>
            </a:r>
            <a:r>
              <a:rPr lang="zh-CN" altLang="en-US" sz="2800" b="1">
                <a:latin typeface="Times New Roman" pitchFamily="18" charset="0"/>
                <a:ea typeface="黑体" pitchFamily="2" charset="-122"/>
              </a:rPr>
              <a:t>：</a:t>
            </a: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33043"/>
              </p:ext>
            </p:extLst>
          </p:nvPr>
        </p:nvGraphicFramePr>
        <p:xfrm>
          <a:off x="5776914" y="4121150"/>
          <a:ext cx="304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3" r:id="rId7" imgW="3045673" imgH="406365" progId="Equation.3">
                  <p:embed/>
                </p:oleObj>
              </mc:Choice>
              <mc:Fallback>
                <p:oleObj r:id="rId7" imgW="3045673" imgH="406365" progId="Equation.3">
                  <p:embed/>
                  <p:pic>
                    <p:nvPicPr>
                      <p:cNvPr id="37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4" y="4121150"/>
                        <a:ext cx="3048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165077"/>
              </p:ext>
            </p:extLst>
          </p:nvPr>
        </p:nvGraphicFramePr>
        <p:xfrm>
          <a:off x="3684589" y="5145087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4" r:id="rId9" imgW="775353" imgH="406893" progId="Equation.3">
                  <p:embed/>
                </p:oleObj>
              </mc:Choice>
              <mc:Fallback>
                <p:oleObj r:id="rId9" imgW="775353" imgH="406893" progId="Equation.3">
                  <p:embed/>
                  <p:pic>
                    <p:nvPicPr>
                      <p:cNvPr id="378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9" y="5145087"/>
                        <a:ext cx="774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838655"/>
              </p:ext>
            </p:extLst>
          </p:nvPr>
        </p:nvGraphicFramePr>
        <p:xfrm>
          <a:off x="2855913" y="2063750"/>
          <a:ext cx="33639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5" r:id="rId11" imgW="3365817" imgH="965517" progId="Equation.3">
                  <p:embed/>
                </p:oleObj>
              </mc:Choice>
              <mc:Fallback>
                <p:oleObj r:id="rId11" imgW="3365817" imgH="965517" progId="Equation.3">
                  <p:embed/>
                  <p:pic>
                    <p:nvPicPr>
                      <p:cNvPr id="378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063750"/>
                        <a:ext cx="3363912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3" name="Rectangle 11"/>
          <p:cNvSpPr>
            <a:spLocks noGrp="1" noChangeArrowheads="1"/>
          </p:cNvSpPr>
          <p:nvPr>
            <p:ph type="title"/>
          </p:nvPr>
        </p:nvSpPr>
        <p:spPr>
          <a:xfrm>
            <a:off x="1411289" y="615951"/>
            <a:ext cx="3429000" cy="627062"/>
          </a:xfrm>
        </p:spPr>
        <p:txBody>
          <a:bodyPr/>
          <a:lstStyle/>
          <a:p>
            <a:pPr algn="l" eaLnBrk="1" hangingPunct="1"/>
            <a:r>
              <a:rPr lang="zh-CN" altLang="zh-CN" sz="2800">
                <a:solidFill>
                  <a:srgbClr val="0000CC"/>
                </a:solidFill>
                <a:latin typeface="Times New Roman" pitchFamily="18" charset="0"/>
                <a:ea typeface="黑体" pitchFamily="2" charset="-122"/>
              </a:rPr>
              <a:t>3. </a:t>
            </a:r>
            <a:r>
              <a:rPr lang="zh-CN" altLang="en-US" sz="2800">
                <a:solidFill>
                  <a:srgbClr val="0000CC"/>
                </a:solidFill>
                <a:latin typeface="Times New Roman" pitchFamily="18" charset="0"/>
                <a:ea typeface="黑体" pitchFamily="2" charset="-122"/>
              </a:rPr>
              <a:t>面与线间的关系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457325" y="2212976"/>
            <a:ext cx="1447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直线 </a:t>
            </a:r>
            <a:r>
              <a:rPr lang="zh-CN" altLang="zh-CN" sz="2800" b="1" i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L</a:t>
            </a:r>
            <a:r>
              <a:rPr lang="zh-CN" altLang="zh-CN" sz="28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rPr>
              <a:t> :</a:t>
            </a:r>
          </a:p>
        </p:txBody>
      </p:sp>
      <p:sp>
        <p:nvSpPr>
          <p:cNvPr id="37901" name="AutoShape 13"/>
          <p:cNvSpPr>
            <a:spLocks noChangeArrowheads="1"/>
          </p:cNvSpPr>
          <p:nvPr/>
        </p:nvSpPr>
        <p:spPr bwMode="auto">
          <a:xfrm>
            <a:off x="4840289" y="3384550"/>
            <a:ext cx="1066800" cy="152400"/>
          </a:xfrm>
          <a:prstGeom prst="leftRightArrow">
            <a:avLst>
              <a:gd name="adj1" fmla="val 50000"/>
              <a:gd name="adj2" fmla="val 1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2" name="AutoShape 14"/>
          <p:cNvSpPr>
            <a:spLocks noChangeArrowheads="1"/>
          </p:cNvSpPr>
          <p:nvPr/>
        </p:nvSpPr>
        <p:spPr bwMode="auto">
          <a:xfrm>
            <a:off x="4687889" y="4256087"/>
            <a:ext cx="1066800" cy="152400"/>
          </a:xfrm>
          <a:prstGeom prst="leftRightArrow">
            <a:avLst>
              <a:gd name="adj1" fmla="val 50000"/>
              <a:gd name="adj2" fmla="val 1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543675" y="1612900"/>
            <a:ext cx="2095500" cy="406400"/>
            <a:chOff x="0" y="0"/>
            <a:chExt cx="1320" cy="256"/>
          </a:xfrm>
        </p:grpSpPr>
        <p:graphicFrame>
          <p:nvGraphicFramePr>
            <p:cNvPr id="36878" name="Object 16"/>
            <p:cNvGraphicFramePr>
              <a:graphicFrameLocks noChangeAspect="1"/>
            </p:cNvGraphicFramePr>
            <p:nvPr/>
          </p:nvGraphicFramePr>
          <p:xfrm>
            <a:off x="0" y="0"/>
            <a:ext cx="132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6" r:id="rId13" imgW="2094000" imgH="406365" progId="Equation.3">
                    <p:embed/>
                  </p:oleObj>
                </mc:Choice>
                <mc:Fallback>
                  <p:oleObj r:id="rId13" imgW="2094000" imgH="406365" progId="Equation.3">
                    <p:embed/>
                    <p:pic>
                      <p:nvPicPr>
                        <p:cNvPr id="3687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320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20" name="Line 17"/>
            <p:cNvSpPr>
              <a:spLocks noChangeShapeType="1"/>
            </p:cNvSpPr>
            <p:nvPr/>
          </p:nvSpPr>
          <p:spPr bwMode="auto">
            <a:xfrm>
              <a:off x="41" y="1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6327775" y="2324100"/>
            <a:ext cx="1968500" cy="406400"/>
            <a:chOff x="0" y="0"/>
            <a:chExt cx="1240" cy="256"/>
          </a:xfrm>
        </p:grpSpPr>
        <p:graphicFrame>
          <p:nvGraphicFramePr>
            <p:cNvPr id="36877" name="Object 19"/>
            <p:cNvGraphicFramePr>
              <a:graphicFrameLocks noChangeAspect="1"/>
            </p:cNvGraphicFramePr>
            <p:nvPr/>
          </p:nvGraphicFramePr>
          <p:xfrm>
            <a:off x="0" y="0"/>
            <a:ext cx="124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7" r:id="rId15" imgW="1967110" imgH="406365" progId="Equation.3">
                    <p:embed/>
                  </p:oleObj>
                </mc:Choice>
                <mc:Fallback>
                  <p:oleObj r:id="rId15" imgW="1967110" imgH="406365" progId="Equation.3">
                    <p:embed/>
                    <p:pic>
                      <p:nvPicPr>
                        <p:cNvPr id="3687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240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9" name="Line 20"/>
            <p:cNvSpPr>
              <a:spLocks noChangeShapeType="1"/>
            </p:cNvSpPr>
            <p:nvPr/>
          </p:nvSpPr>
          <p:spPr bwMode="auto">
            <a:xfrm>
              <a:off x="36" y="16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3433765" y="3265487"/>
            <a:ext cx="1350963" cy="463550"/>
            <a:chOff x="0" y="0"/>
            <a:chExt cx="851" cy="292"/>
          </a:xfrm>
        </p:grpSpPr>
        <p:graphicFrame>
          <p:nvGraphicFramePr>
            <p:cNvPr id="36876" name="Object 22"/>
            <p:cNvGraphicFramePr>
              <a:graphicFrameLocks noChangeAspect="1"/>
            </p:cNvGraphicFramePr>
            <p:nvPr/>
          </p:nvGraphicFramePr>
          <p:xfrm>
            <a:off x="11" y="36"/>
            <a:ext cx="84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8" r:id="rId17" imgW="1334396" imgH="406893" progId="Equation.3">
                    <p:embed/>
                  </p:oleObj>
                </mc:Choice>
                <mc:Fallback>
                  <p:oleObj r:id="rId17" imgW="1334396" imgH="406893" progId="Equation.3">
                    <p:embed/>
                    <p:pic>
                      <p:nvPicPr>
                        <p:cNvPr id="3687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" y="36"/>
                          <a:ext cx="840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6" name="Line 23"/>
            <p:cNvSpPr>
              <a:spLocks noChangeShapeType="1"/>
            </p:cNvSpPr>
            <p:nvPr/>
          </p:nvSpPr>
          <p:spPr bwMode="auto">
            <a:xfrm>
              <a:off x="0" y="45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17" name="Line 24"/>
            <p:cNvSpPr>
              <a:spLocks noChangeShapeType="1"/>
            </p:cNvSpPr>
            <p:nvPr/>
          </p:nvSpPr>
          <p:spPr bwMode="auto">
            <a:xfrm>
              <a:off x="336" y="45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18" name="Line 25"/>
            <p:cNvSpPr>
              <a:spLocks noChangeShapeType="1"/>
            </p:cNvSpPr>
            <p:nvPr/>
          </p:nvSpPr>
          <p:spPr bwMode="auto">
            <a:xfrm>
              <a:off x="679" y="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3365502" y="4159250"/>
            <a:ext cx="1231900" cy="406400"/>
            <a:chOff x="0" y="0"/>
            <a:chExt cx="776" cy="256"/>
          </a:xfrm>
        </p:grpSpPr>
        <p:graphicFrame>
          <p:nvGraphicFramePr>
            <p:cNvPr id="36875" name="Object 27"/>
            <p:cNvGraphicFramePr>
              <a:graphicFrameLocks noChangeAspect="1"/>
            </p:cNvGraphicFramePr>
            <p:nvPr/>
          </p:nvGraphicFramePr>
          <p:xfrm>
            <a:off x="0" y="0"/>
            <a:ext cx="77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9" r:id="rId19" imgW="1232752" imgH="406893" progId="Equation.3">
                    <p:embed/>
                  </p:oleObj>
                </mc:Choice>
                <mc:Fallback>
                  <p:oleObj r:id="rId19" imgW="1232752" imgH="406893" progId="Equation.3">
                    <p:embed/>
                    <p:pic>
                      <p:nvPicPr>
                        <p:cNvPr id="36875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76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4" name="Line 28"/>
            <p:cNvSpPr>
              <a:spLocks noChangeShapeType="1"/>
            </p:cNvSpPr>
            <p:nvPr/>
          </p:nvSpPr>
          <p:spPr bwMode="auto">
            <a:xfrm>
              <a:off x="17" y="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15" name="Line 29"/>
            <p:cNvSpPr>
              <a:spLocks noChangeShapeType="1"/>
            </p:cNvSpPr>
            <p:nvPr/>
          </p:nvSpPr>
          <p:spPr bwMode="auto">
            <a:xfrm>
              <a:off x="272" y="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7918" name="AutoShape 30"/>
          <p:cNvSpPr>
            <a:spLocks noChangeArrowheads="1"/>
          </p:cNvSpPr>
          <p:nvPr/>
        </p:nvSpPr>
        <p:spPr bwMode="auto">
          <a:xfrm>
            <a:off x="2554290" y="3417887"/>
            <a:ext cx="792163" cy="152400"/>
          </a:xfrm>
          <a:prstGeom prst="leftRightArrow">
            <a:avLst>
              <a:gd name="adj1" fmla="val 50000"/>
              <a:gd name="adj2" fmla="val 1039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9" name="AutoShape 31"/>
          <p:cNvSpPr>
            <a:spLocks noChangeArrowheads="1"/>
          </p:cNvSpPr>
          <p:nvPr/>
        </p:nvSpPr>
        <p:spPr bwMode="auto">
          <a:xfrm>
            <a:off x="2478090" y="4241800"/>
            <a:ext cx="792163" cy="152400"/>
          </a:xfrm>
          <a:prstGeom prst="leftRightArrow">
            <a:avLst>
              <a:gd name="adj1" fmla="val 50000"/>
              <a:gd name="adj2" fmla="val 1039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4516439" y="4859337"/>
            <a:ext cx="1371600" cy="1003300"/>
            <a:chOff x="0" y="0"/>
            <a:chExt cx="864" cy="632"/>
          </a:xfrm>
        </p:grpSpPr>
        <p:graphicFrame>
          <p:nvGraphicFramePr>
            <p:cNvPr id="36874" name="Object 33"/>
            <p:cNvGraphicFramePr>
              <a:graphicFrameLocks noChangeAspect="1"/>
            </p:cNvGraphicFramePr>
            <p:nvPr/>
          </p:nvGraphicFramePr>
          <p:xfrm>
            <a:off x="0" y="0"/>
            <a:ext cx="864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60" r:id="rId21" imgW="1373109" imgH="1004489" progId="Equation.3">
                    <p:embed/>
                  </p:oleObj>
                </mc:Choice>
                <mc:Fallback>
                  <p:oleObj r:id="rId21" imgW="1373109" imgH="1004489" progId="Equation.3">
                    <p:embed/>
                    <p:pic>
                      <p:nvPicPr>
                        <p:cNvPr id="3687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864" cy="6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0" name="Line 34"/>
            <p:cNvSpPr>
              <a:spLocks noChangeShapeType="1"/>
            </p:cNvSpPr>
            <p:nvPr/>
          </p:nvSpPr>
          <p:spPr bwMode="auto">
            <a:xfrm>
              <a:off x="304" y="31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11" name="Line 35"/>
            <p:cNvSpPr>
              <a:spLocks noChangeShapeType="1"/>
            </p:cNvSpPr>
            <p:nvPr/>
          </p:nvSpPr>
          <p:spPr bwMode="auto">
            <a:xfrm>
              <a:off x="592" y="31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12" name="Line 36"/>
            <p:cNvSpPr>
              <a:spLocks noChangeShapeType="1"/>
            </p:cNvSpPr>
            <p:nvPr/>
          </p:nvSpPr>
          <p:spPr bwMode="auto">
            <a:xfrm>
              <a:off x="289" y="367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13" name="Line 37"/>
            <p:cNvSpPr>
              <a:spLocks noChangeShapeType="1"/>
            </p:cNvSpPr>
            <p:nvPr/>
          </p:nvSpPr>
          <p:spPr bwMode="auto">
            <a:xfrm>
              <a:off x="592" y="367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6886577" y="4414837"/>
            <a:ext cx="2590800" cy="1905000"/>
            <a:chOff x="0" y="0"/>
            <a:chExt cx="1632" cy="1200"/>
          </a:xfrm>
        </p:grpSpPr>
        <p:sp>
          <p:nvSpPr>
            <p:cNvPr id="36904" name="Line 39"/>
            <p:cNvSpPr>
              <a:spLocks noChangeShapeType="1"/>
            </p:cNvSpPr>
            <p:nvPr/>
          </p:nvSpPr>
          <p:spPr bwMode="auto">
            <a:xfrm flipH="1">
              <a:off x="240" y="767"/>
              <a:ext cx="345" cy="43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0" y="0"/>
              <a:ext cx="1632" cy="1008"/>
              <a:chOff x="0" y="0"/>
              <a:chExt cx="1632" cy="1008"/>
            </a:xfrm>
          </p:grpSpPr>
          <p:graphicFrame>
            <p:nvGraphicFramePr>
              <p:cNvPr id="36871" name="Object 41"/>
              <p:cNvGraphicFramePr>
                <a:graphicFrameLocks noChangeAspect="1"/>
              </p:cNvGraphicFramePr>
              <p:nvPr/>
            </p:nvGraphicFramePr>
            <p:xfrm>
              <a:off x="1143" y="48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61" r:id="rId23" imgW="254759" imgH="305647" progId="Equation.3">
                      <p:embed/>
                    </p:oleObj>
                  </mc:Choice>
                  <mc:Fallback>
                    <p:oleObj r:id="rId23" imgW="254759" imgH="305647" progId="Equation.3">
                      <p:embed/>
                      <p:pic>
                        <p:nvPicPr>
                          <p:cNvPr id="36871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3" y="48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906" name="AutoShape 42"/>
              <p:cNvSpPr>
                <a:spLocks noChangeArrowheads="1"/>
              </p:cNvSpPr>
              <p:nvPr/>
            </p:nvSpPr>
            <p:spPr bwMode="auto">
              <a:xfrm>
                <a:off x="0" y="480"/>
                <a:ext cx="1632" cy="528"/>
              </a:xfrm>
              <a:prstGeom prst="parallelogram">
                <a:avLst>
                  <a:gd name="adj" fmla="val 77273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7" name="Line 43"/>
              <p:cNvSpPr>
                <a:spLocks noChangeShapeType="1"/>
              </p:cNvSpPr>
              <p:nvPr/>
            </p:nvSpPr>
            <p:spPr bwMode="auto">
              <a:xfrm flipH="1">
                <a:off x="624" y="0"/>
                <a:ext cx="576" cy="72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6872" name="Object 44"/>
              <p:cNvGraphicFramePr>
                <a:graphicFrameLocks noChangeAspect="1"/>
              </p:cNvGraphicFramePr>
              <p:nvPr/>
            </p:nvGraphicFramePr>
            <p:xfrm>
              <a:off x="1037" y="767"/>
              <a:ext cx="211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62" r:id="rId25" imgW="331091" imgH="305647" progId="Equation.3">
                      <p:embed/>
                    </p:oleObj>
                  </mc:Choice>
                  <mc:Fallback>
                    <p:oleObj r:id="rId25" imgW="331091" imgH="305647" progId="Equation.3">
                      <p:embed/>
                      <p:pic>
                        <p:nvPicPr>
                          <p:cNvPr id="36872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37" y="767"/>
                            <a:ext cx="211" cy="1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908" name="Arc 45"/>
              <p:cNvSpPr>
                <a:spLocks/>
              </p:cNvSpPr>
              <p:nvPr/>
            </p:nvSpPr>
            <p:spPr bwMode="auto">
              <a:xfrm rot="3385627">
                <a:off x="639" y="521"/>
                <a:ext cx="121" cy="288"/>
              </a:xfrm>
              <a:custGeom>
                <a:avLst/>
                <a:gdLst>
                  <a:gd name="T0" fmla="*/ 0 w 15466"/>
                  <a:gd name="T1" fmla="*/ 0 h 21600"/>
                  <a:gd name="T2" fmla="*/ 0 w 15466"/>
                  <a:gd name="T3" fmla="*/ 0 h 21600"/>
                  <a:gd name="T4" fmla="*/ 0 w 1546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5466"/>
                  <a:gd name="T10" fmla="*/ 0 h 21600"/>
                  <a:gd name="T11" fmla="*/ 15466 w 1546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66" h="21600" fill="none" extrusionOk="0">
                    <a:moveTo>
                      <a:pt x="-1" y="106"/>
                    </a:moveTo>
                    <a:cubicBezTo>
                      <a:pt x="713" y="35"/>
                      <a:pt x="1429" y="-1"/>
                      <a:pt x="2146" y="0"/>
                    </a:cubicBezTo>
                    <a:cubicBezTo>
                      <a:pt x="6974" y="0"/>
                      <a:pt x="11664" y="1618"/>
                      <a:pt x="15466" y="4595"/>
                    </a:cubicBezTo>
                  </a:path>
                  <a:path w="15466" h="21600" stroke="0" extrusionOk="0">
                    <a:moveTo>
                      <a:pt x="-1" y="106"/>
                    </a:moveTo>
                    <a:cubicBezTo>
                      <a:pt x="713" y="35"/>
                      <a:pt x="1429" y="-1"/>
                      <a:pt x="2146" y="0"/>
                    </a:cubicBezTo>
                    <a:cubicBezTo>
                      <a:pt x="6974" y="0"/>
                      <a:pt x="11664" y="1618"/>
                      <a:pt x="15466" y="4595"/>
                    </a:cubicBezTo>
                    <a:lnTo>
                      <a:pt x="2146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6873" name="Object 46"/>
              <p:cNvGraphicFramePr>
                <a:graphicFrameLocks noChangeAspect="1"/>
              </p:cNvGraphicFramePr>
              <p:nvPr/>
            </p:nvGraphicFramePr>
            <p:xfrm>
              <a:off x="840" y="424"/>
              <a:ext cx="16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63" r:id="rId27" imgW="267365" imgH="318231" progId="Equation.3">
                      <p:embed/>
                    </p:oleObj>
                  </mc:Choice>
                  <mc:Fallback>
                    <p:oleObj r:id="rId27" imgW="267365" imgH="318231" progId="Equation.3">
                      <p:embed/>
                      <p:pic>
                        <p:nvPicPr>
                          <p:cNvPr id="36873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0" y="424"/>
                            <a:ext cx="168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909" name="Line 47"/>
              <p:cNvSpPr>
                <a:spLocks noChangeShapeType="1"/>
              </p:cNvSpPr>
              <p:nvPr/>
            </p:nvSpPr>
            <p:spPr bwMode="auto">
              <a:xfrm flipV="1">
                <a:off x="288" y="528"/>
                <a:ext cx="864" cy="33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utoUpdateAnimBg="0"/>
      <p:bldP spid="37893" grpId="0" autoUpdateAnimBg="0"/>
      <p:bldP spid="37894" grpId="0" autoUpdateAnimBg="0"/>
      <p:bldP spid="37895" grpId="0" autoUpdateAnimBg="0"/>
      <p:bldP spid="37900" grpId="0" autoUpdateAnimBg="0"/>
      <p:bldP spid="37901" grpId="0" animBg="1"/>
      <p:bldP spid="37902" grpId="0" animBg="1"/>
      <p:bldP spid="37918" grpId="0" animBg="1"/>
      <p:bldP spid="3791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背景">
  <a:themeElements>
    <a:clrScheme name="背景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背景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defRPr sz="2800" b="1" dirty="0" smtClean="0">
            <a:latin typeface="+mj-ea"/>
            <a:ea typeface="+mj-ea"/>
          </a:defRPr>
        </a:defPPr>
      </a:lstStyle>
    </a:txDef>
  </a:objectDefaults>
  <a:extraClrSchemeLst>
    <a:extraClrScheme>
      <a:clrScheme name="背景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背景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767</Words>
  <Application>Microsoft Office PowerPoint</Application>
  <PresentationFormat>宽屏</PresentationFormat>
  <Paragraphs>140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等线</vt:lpstr>
      <vt:lpstr>黑体</vt:lpstr>
      <vt:lpstr>楷体_GB2312</vt:lpstr>
      <vt:lpstr>Times New Roman</vt:lpstr>
      <vt:lpstr>背景</vt:lpstr>
      <vt:lpstr>Microsoft Equation 3.0</vt:lpstr>
      <vt:lpstr>Equation</vt:lpstr>
      <vt:lpstr>MathType 6.0 Equation</vt:lpstr>
      <vt:lpstr>Microsoft 公式 3.0 中文版</vt:lpstr>
      <vt:lpstr>2.4 直线和平面的位置关系</vt:lpstr>
      <vt:lpstr>空间直线方程</vt:lpstr>
      <vt:lpstr>PowerPoint 演示文稿</vt:lpstr>
      <vt:lpstr>PowerPoint 演示文稿</vt:lpstr>
      <vt:lpstr>2. 对称式方程</vt:lpstr>
      <vt:lpstr>PowerPoint 演示文稿</vt:lpstr>
      <vt:lpstr>3. 参数式方程</vt:lpstr>
      <vt:lpstr>例1.用对称式及参数式表示直线</vt:lpstr>
      <vt:lpstr>PowerPoint 演示文稿</vt:lpstr>
      <vt:lpstr>PowerPoint 演示文稿</vt:lpstr>
      <vt:lpstr>PowerPoint 演示文稿</vt:lpstr>
      <vt:lpstr>线面间的位置关系</vt:lpstr>
      <vt:lpstr>PowerPoint 演示文稿</vt:lpstr>
      <vt:lpstr>PowerPoint 演示文稿</vt:lpstr>
      <vt:lpstr>例3. 求直线                                        与直线                                的夹角.</vt:lpstr>
      <vt:lpstr>2. 直线与平面的夹角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平面束方程及应用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空间直线方程</vt:lpstr>
      <vt:lpstr>2.  线与线的关系</vt:lpstr>
      <vt:lpstr>3. 面与线间的关系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 直线和平面的位置关系</dc:title>
  <dc:creator>莉萍 孙</dc:creator>
  <cp:lastModifiedBy>莉萍 孙</cp:lastModifiedBy>
  <cp:revision>24</cp:revision>
  <dcterms:created xsi:type="dcterms:W3CDTF">2020-03-15T01:51:34Z</dcterms:created>
  <dcterms:modified xsi:type="dcterms:W3CDTF">2020-03-15T05:23:54Z</dcterms:modified>
</cp:coreProperties>
</file>